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3" r:id="rId20"/>
    <p:sldId id="274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8600" y="721029"/>
            <a:ext cx="1310005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98809"/>
            <a:ext cx="18287999" cy="30003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53282" y="998397"/>
            <a:ext cx="152914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035" y="3002619"/>
            <a:ext cx="17435111" cy="594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4460"/>
            <a:chOff x="0" y="0"/>
            <a:chExt cx="18288000" cy="10284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599" y="0"/>
              <a:ext cx="17762401" cy="99240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380"/>
              <a:ext cx="9077391" cy="1020979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082563" y="141890"/>
            <a:ext cx="447230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0" dirty="0">
                <a:latin typeface="Calibri"/>
                <a:cs typeface="Calibri"/>
              </a:rPr>
              <a:t>VisionIQ</a:t>
            </a:r>
            <a:endParaRPr sz="10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96032" y="2050014"/>
            <a:ext cx="62744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500"/>
              </a:lnSpc>
              <a:spcBef>
                <a:spcPts val="95"/>
              </a:spcBef>
            </a:pP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AI-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Based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Surveillance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"See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Smarter.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Stay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Safer."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17982" y="4570158"/>
            <a:ext cx="4999355" cy="4201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VISION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IQ'S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endParaRPr sz="2700" dirty="0">
              <a:latin typeface="Microsoft Sans Serif"/>
              <a:cs typeface="Microsoft Sans Serif"/>
            </a:endParaRPr>
          </a:p>
          <a:p>
            <a:pPr marL="12700" marR="594995">
              <a:lnSpc>
                <a:spcPct val="145800"/>
              </a:lnSpc>
              <a:spcBef>
                <a:spcPts val="2475"/>
              </a:spcBef>
            </a:pP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Krishna Prasad</a:t>
            </a:r>
            <a:r>
              <a:rPr sz="27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7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7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Lead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Sriram - Team </a:t>
            </a:r>
            <a:r>
              <a:rPr sz="27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Member</a:t>
            </a:r>
            <a:endParaRPr sz="2700" dirty="0">
              <a:latin typeface="Microsoft Sans Serif"/>
              <a:cs typeface="Microsoft Sans Serif"/>
            </a:endParaRPr>
          </a:p>
          <a:p>
            <a:pPr marL="12700" marR="481965">
              <a:lnSpc>
                <a:spcPct val="145800"/>
              </a:lnSpc>
            </a:pP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Rishi</a:t>
            </a:r>
            <a:r>
              <a:rPr sz="27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7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7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Member</a:t>
            </a:r>
            <a:endParaRPr lang="en-IN" sz="2700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12700" marR="481965">
              <a:lnSpc>
                <a:spcPct val="145800"/>
              </a:lnSpc>
            </a:pP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Tarun</a:t>
            </a:r>
            <a:r>
              <a:rPr sz="27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-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Member</a:t>
            </a:r>
            <a:endParaRPr sz="27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3229"/>
              </a:lnSpc>
              <a:spcBef>
                <a:spcPts val="840"/>
              </a:spcBef>
            </a:pP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Praneeth</a:t>
            </a:r>
            <a:r>
              <a:rPr sz="27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varma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7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Member</a:t>
            </a:r>
            <a:endParaRPr lang="en-IN" sz="2700" spc="-10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ts val="3229"/>
              </a:lnSpc>
              <a:spcBef>
                <a:spcPts val="840"/>
              </a:spcBef>
            </a:pP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Pranay</a:t>
            </a:r>
            <a:r>
              <a:rPr sz="27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7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7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Member</a:t>
            </a:r>
            <a:endParaRPr sz="27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436" y="5048"/>
            <a:ext cx="6968185" cy="102819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145302" y="893892"/>
            <a:ext cx="9429750" cy="3114675"/>
          </a:xfrm>
          <a:custGeom>
            <a:avLst/>
            <a:gdLst/>
            <a:ahLst/>
            <a:cxnLst/>
            <a:rect l="l" t="t" r="r" b="b"/>
            <a:pathLst>
              <a:path w="9429750" h="3114675">
                <a:moveTo>
                  <a:pt x="8977938" y="3114483"/>
                </a:moveTo>
                <a:lnTo>
                  <a:pt x="451473" y="3114483"/>
                </a:lnTo>
                <a:lnTo>
                  <a:pt x="408031" y="3112099"/>
                </a:lnTo>
                <a:lnTo>
                  <a:pt x="365732" y="3105137"/>
                </a:lnTo>
                <a:lnTo>
                  <a:pt x="324767" y="3093789"/>
                </a:lnTo>
                <a:lnTo>
                  <a:pt x="285326" y="3078244"/>
                </a:lnTo>
                <a:lnTo>
                  <a:pt x="247696" y="3058789"/>
                </a:lnTo>
                <a:lnTo>
                  <a:pt x="211970" y="3035520"/>
                </a:lnTo>
                <a:lnTo>
                  <a:pt x="178341" y="3008722"/>
                </a:lnTo>
                <a:lnTo>
                  <a:pt x="146998" y="2978681"/>
                </a:lnTo>
                <a:lnTo>
                  <a:pt x="118131" y="2945494"/>
                </a:lnTo>
                <a:lnTo>
                  <a:pt x="92028" y="2909445"/>
                </a:lnTo>
                <a:lnTo>
                  <a:pt x="68783" y="2870822"/>
                </a:lnTo>
                <a:lnTo>
                  <a:pt x="48586" y="2829719"/>
                </a:lnTo>
                <a:lnTo>
                  <a:pt x="31628" y="2786422"/>
                </a:lnTo>
                <a:lnTo>
                  <a:pt x="18100" y="2741123"/>
                </a:lnTo>
                <a:lnTo>
                  <a:pt x="8193" y="2694012"/>
                </a:lnTo>
                <a:lnTo>
                  <a:pt x="2095" y="2645375"/>
                </a:lnTo>
                <a:lnTo>
                  <a:pt x="0" y="2595403"/>
                </a:lnTo>
                <a:lnTo>
                  <a:pt x="0" y="519080"/>
                </a:lnTo>
                <a:lnTo>
                  <a:pt x="2095" y="469108"/>
                </a:lnTo>
                <a:lnTo>
                  <a:pt x="8193" y="420471"/>
                </a:lnTo>
                <a:lnTo>
                  <a:pt x="18100" y="373360"/>
                </a:lnTo>
                <a:lnTo>
                  <a:pt x="31533" y="328061"/>
                </a:lnTo>
                <a:lnTo>
                  <a:pt x="48491" y="284764"/>
                </a:lnTo>
                <a:lnTo>
                  <a:pt x="68688" y="243661"/>
                </a:lnTo>
                <a:lnTo>
                  <a:pt x="91933" y="205038"/>
                </a:lnTo>
                <a:lnTo>
                  <a:pt x="118036" y="168989"/>
                </a:lnTo>
                <a:lnTo>
                  <a:pt x="146902" y="135802"/>
                </a:lnTo>
                <a:lnTo>
                  <a:pt x="178245" y="105761"/>
                </a:lnTo>
                <a:lnTo>
                  <a:pt x="211875" y="78963"/>
                </a:lnTo>
                <a:lnTo>
                  <a:pt x="247879" y="55694"/>
                </a:lnTo>
                <a:lnTo>
                  <a:pt x="285326" y="36239"/>
                </a:lnTo>
                <a:lnTo>
                  <a:pt x="324767" y="20694"/>
                </a:lnTo>
                <a:lnTo>
                  <a:pt x="365637" y="9345"/>
                </a:lnTo>
                <a:lnTo>
                  <a:pt x="407936" y="2384"/>
                </a:lnTo>
                <a:lnTo>
                  <a:pt x="451473" y="0"/>
                </a:lnTo>
                <a:lnTo>
                  <a:pt x="8978029" y="0"/>
                </a:lnTo>
                <a:lnTo>
                  <a:pt x="9021471" y="2384"/>
                </a:lnTo>
                <a:lnTo>
                  <a:pt x="9063770" y="9345"/>
                </a:lnTo>
                <a:lnTo>
                  <a:pt x="9104735" y="20694"/>
                </a:lnTo>
                <a:lnTo>
                  <a:pt x="9144081" y="36239"/>
                </a:lnTo>
                <a:lnTo>
                  <a:pt x="9181711" y="55694"/>
                </a:lnTo>
                <a:lnTo>
                  <a:pt x="9217437" y="78963"/>
                </a:lnTo>
                <a:lnTo>
                  <a:pt x="9251067" y="105761"/>
                </a:lnTo>
                <a:lnTo>
                  <a:pt x="9282409" y="135802"/>
                </a:lnTo>
                <a:lnTo>
                  <a:pt x="9311181" y="168989"/>
                </a:lnTo>
                <a:lnTo>
                  <a:pt x="9337284" y="205038"/>
                </a:lnTo>
                <a:lnTo>
                  <a:pt x="9360529" y="243661"/>
                </a:lnTo>
                <a:lnTo>
                  <a:pt x="9380726" y="284764"/>
                </a:lnTo>
                <a:lnTo>
                  <a:pt x="9397684" y="328061"/>
                </a:lnTo>
                <a:lnTo>
                  <a:pt x="9411212" y="373360"/>
                </a:lnTo>
                <a:lnTo>
                  <a:pt x="9421119" y="420471"/>
                </a:lnTo>
                <a:lnTo>
                  <a:pt x="9427217" y="469108"/>
                </a:lnTo>
                <a:lnTo>
                  <a:pt x="9429312" y="519080"/>
                </a:lnTo>
                <a:lnTo>
                  <a:pt x="9429312" y="2595403"/>
                </a:lnTo>
                <a:lnTo>
                  <a:pt x="9427217" y="2645375"/>
                </a:lnTo>
                <a:lnTo>
                  <a:pt x="9421119" y="2694012"/>
                </a:lnTo>
                <a:lnTo>
                  <a:pt x="9411212" y="2741123"/>
                </a:lnTo>
                <a:lnTo>
                  <a:pt x="9397684" y="2786422"/>
                </a:lnTo>
                <a:lnTo>
                  <a:pt x="9380726" y="2829719"/>
                </a:lnTo>
                <a:lnTo>
                  <a:pt x="9360529" y="2870822"/>
                </a:lnTo>
                <a:lnTo>
                  <a:pt x="9337284" y="2909445"/>
                </a:lnTo>
                <a:lnTo>
                  <a:pt x="9311181" y="2945494"/>
                </a:lnTo>
                <a:lnTo>
                  <a:pt x="9282314" y="2978681"/>
                </a:lnTo>
                <a:lnTo>
                  <a:pt x="9250971" y="3008722"/>
                </a:lnTo>
                <a:lnTo>
                  <a:pt x="9217341" y="3035520"/>
                </a:lnTo>
                <a:lnTo>
                  <a:pt x="9181616" y="3058789"/>
                </a:lnTo>
                <a:lnTo>
                  <a:pt x="9143890" y="3078244"/>
                </a:lnTo>
                <a:lnTo>
                  <a:pt x="9104450" y="3093789"/>
                </a:lnTo>
                <a:lnTo>
                  <a:pt x="9063485" y="3105137"/>
                </a:lnTo>
                <a:lnTo>
                  <a:pt x="9020996" y="3112099"/>
                </a:lnTo>
                <a:lnTo>
                  <a:pt x="8977938" y="3114483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47159" y="9780041"/>
            <a:ext cx="10143490" cy="427990"/>
          </a:xfrm>
          <a:custGeom>
            <a:avLst/>
            <a:gdLst/>
            <a:ahLst/>
            <a:cxnLst/>
            <a:rect l="l" t="t" r="r" b="b"/>
            <a:pathLst>
              <a:path w="10143490" h="427990">
                <a:moveTo>
                  <a:pt x="10142965" y="427962"/>
                </a:moveTo>
                <a:lnTo>
                  <a:pt x="195866" y="427962"/>
                </a:lnTo>
                <a:lnTo>
                  <a:pt x="150996" y="422281"/>
                </a:lnTo>
                <a:lnTo>
                  <a:pt x="109841" y="406185"/>
                </a:lnTo>
                <a:lnTo>
                  <a:pt x="73450" y="381000"/>
                </a:lnTo>
                <a:lnTo>
                  <a:pt x="43060" y="347861"/>
                </a:lnTo>
                <a:lnTo>
                  <a:pt x="19910" y="308094"/>
                </a:lnTo>
                <a:lnTo>
                  <a:pt x="5144" y="263121"/>
                </a:lnTo>
                <a:lnTo>
                  <a:pt x="0" y="214075"/>
                </a:lnTo>
                <a:lnTo>
                  <a:pt x="5144" y="164935"/>
                </a:lnTo>
                <a:lnTo>
                  <a:pt x="19910" y="119867"/>
                </a:lnTo>
                <a:lnTo>
                  <a:pt x="43060" y="80100"/>
                </a:lnTo>
                <a:lnTo>
                  <a:pt x="73450" y="46962"/>
                </a:lnTo>
                <a:lnTo>
                  <a:pt x="109841" y="21776"/>
                </a:lnTo>
                <a:lnTo>
                  <a:pt x="150996" y="5680"/>
                </a:lnTo>
                <a:lnTo>
                  <a:pt x="195866" y="0"/>
                </a:lnTo>
                <a:lnTo>
                  <a:pt x="10142965" y="0"/>
                </a:lnTo>
                <a:lnTo>
                  <a:pt x="10142965" y="9941"/>
                </a:lnTo>
                <a:lnTo>
                  <a:pt x="195866" y="9941"/>
                </a:lnTo>
                <a:lnTo>
                  <a:pt x="152901" y="15338"/>
                </a:lnTo>
                <a:lnTo>
                  <a:pt x="113461" y="30771"/>
                </a:lnTo>
                <a:lnTo>
                  <a:pt x="78689" y="54915"/>
                </a:lnTo>
                <a:lnTo>
                  <a:pt x="49728" y="86539"/>
                </a:lnTo>
                <a:lnTo>
                  <a:pt x="27627" y="124412"/>
                </a:lnTo>
                <a:lnTo>
                  <a:pt x="13527" y="167302"/>
                </a:lnTo>
                <a:lnTo>
                  <a:pt x="8573" y="213981"/>
                </a:lnTo>
                <a:lnTo>
                  <a:pt x="13527" y="260659"/>
                </a:lnTo>
                <a:lnTo>
                  <a:pt x="27627" y="303644"/>
                </a:lnTo>
                <a:lnTo>
                  <a:pt x="49728" y="341517"/>
                </a:lnTo>
                <a:lnTo>
                  <a:pt x="78689" y="373141"/>
                </a:lnTo>
                <a:lnTo>
                  <a:pt x="113461" y="397285"/>
                </a:lnTo>
                <a:lnTo>
                  <a:pt x="152901" y="412623"/>
                </a:lnTo>
                <a:lnTo>
                  <a:pt x="195866" y="418020"/>
                </a:lnTo>
                <a:lnTo>
                  <a:pt x="10142965" y="418020"/>
                </a:lnTo>
                <a:lnTo>
                  <a:pt x="10142965" y="427962"/>
                </a:lnTo>
                <a:close/>
              </a:path>
            </a:pathLst>
          </a:custGeom>
          <a:solidFill>
            <a:srgbClr val="00F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96389" y="1836403"/>
            <a:ext cx="4727575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100" b="0" spc="-1295" dirty="0">
                <a:latin typeface="Tahoma"/>
                <a:cs typeface="Tahoma"/>
              </a:rPr>
              <a:t>VISI</a:t>
            </a:r>
            <a:r>
              <a:rPr sz="10100" b="0" spc="-1310" dirty="0">
                <a:latin typeface="Tahoma"/>
                <a:cs typeface="Tahoma"/>
              </a:rPr>
              <a:t>O</a:t>
            </a:r>
            <a:r>
              <a:rPr sz="10100" b="0" spc="600" dirty="0">
                <a:latin typeface="Tahoma"/>
                <a:cs typeface="Tahoma"/>
              </a:rPr>
              <a:t>N</a:t>
            </a:r>
            <a:r>
              <a:rPr sz="10100" b="0" spc="-1295" dirty="0">
                <a:latin typeface="Tahoma"/>
                <a:cs typeface="Tahoma"/>
              </a:rPr>
              <a:t>I</a:t>
            </a:r>
            <a:r>
              <a:rPr sz="10100" b="0" spc="-25" dirty="0">
                <a:latin typeface="Tahoma"/>
                <a:cs typeface="Tahoma"/>
              </a:rPr>
              <a:t>Q</a:t>
            </a:r>
            <a:endParaRPr sz="10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1841" y="4358159"/>
            <a:ext cx="8837295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500"/>
              </a:lnSpc>
              <a:spcBef>
                <a:spcPts val="95"/>
              </a:spcBef>
            </a:pP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VisionIQ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AI-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based</a:t>
            </a:r>
            <a:r>
              <a:rPr sz="27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surveillance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sz="27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goes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beyond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traditional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monitoring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integrating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artificial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intelligence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analyze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interpret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time.</a:t>
            </a:r>
            <a:r>
              <a:rPr sz="27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27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uses</a:t>
            </a:r>
            <a:r>
              <a:rPr sz="27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computer vision and machine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algorithms</a:t>
            </a:r>
            <a:r>
              <a:rPr sz="27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unusual</a:t>
            </a:r>
            <a:r>
              <a:rPr sz="27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activities,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identify</a:t>
            </a:r>
            <a:r>
              <a:rPr sz="27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potential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threats,</a:t>
            </a:r>
            <a:r>
              <a:rPr sz="27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7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send</a:t>
            </a:r>
            <a:r>
              <a:rPr sz="27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instant</a:t>
            </a:r>
            <a:r>
              <a:rPr sz="27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alerts</a:t>
            </a:r>
            <a:r>
              <a:rPr sz="27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7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7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concerned authorities.</a:t>
            </a:r>
            <a:endParaRPr sz="27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8395" y="0"/>
            <a:ext cx="6968870" cy="102819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6905" y="1170717"/>
            <a:ext cx="10382250" cy="2981325"/>
          </a:xfrm>
          <a:custGeom>
            <a:avLst/>
            <a:gdLst/>
            <a:ahLst/>
            <a:cxnLst/>
            <a:rect l="l" t="t" r="r" b="b"/>
            <a:pathLst>
              <a:path w="10382250" h="2981325">
                <a:moveTo>
                  <a:pt x="9884994" y="2981324"/>
                </a:moveTo>
                <a:lnTo>
                  <a:pt x="497073" y="2981324"/>
                </a:lnTo>
                <a:lnTo>
                  <a:pt x="449261" y="2979039"/>
                </a:lnTo>
                <a:lnTo>
                  <a:pt x="402687" y="2972375"/>
                </a:lnTo>
                <a:lnTo>
                  <a:pt x="357637" y="2961521"/>
                </a:lnTo>
                <a:lnTo>
                  <a:pt x="314301" y="2946668"/>
                </a:lnTo>
                <a:lnTo>
                  <a:pt x="272871" y="2928007"/>
                </a:lnTo>
                <a:lnTo>
                  <a:pt x="233535" y="2905727"/>
                </a:lnTo>
                <a:lnTo>
                  <a:pt x="196486" y="2880116"/>
                </a:lnTo>
                <a:lnTo>
                  <a:pt x="162008" y="2851362"/>
                </a:lnTo>
                <a:lnTo>
                  <a:pt x="130292" y="2819657"/>
                </a:lnTo>
                <a:lnTo>
                  <a:pt x="101529" y="2785191"/>
                </a:lnTo>
                <a:lnTo>
                  <a:pt x="75908" y="2748154"/>
                </a:lnTo>
                <a:lnTo>
                  <a:pt x="53621" y="2708832"/>
                </a:lnTo>
                <a:lnTo>
                  <a:pt x="34954" y="2667416"/>
                </a:lnTo>
                <a:lnTo>
                  <a:pt x="20096" y="2624000"/>
                </a:lnTo>
                <a:lnTo>
                  <a:pt x="9238" y="2578965"/>
                </a:lnTo>
                <a:lnTo>
                  <a:pt x="2571" y="2532407"/>
                </a:lnTo>
                <a:lnTo>
                  <a:pt x="0" y="2484516"/>
                </a:lnTo>
                <a:lnTo>
                  <a:pt x="4" y="496808"/>
                </a:lnTo>
                <a:lnTo>
                  <a:pt x="2299" y="448917"/>
                </a:lnTo>
                <a:lnTo>
                  <a:pt x="8975" y="402359"/>
                </a:lnTo>
                <a:lnTo>
                  <a:pt x="19843" y="357324"/>
                </a:lnTo>
                <a:lnTo>
                  <a:pt x="34711" y="313908"/>
                </a:lnTo>
                <a:lnTo>
                  <a:pt x="53390" y="272492"/>
                </a:lnTo>
                <a:lnTo>
                  <a:pt x="75688" y="233170"/>
                </a:lnTo>
                <a:lnTo>
                  <a:pt x="101322" y="196133"/>
                </a:lnTo>
                <a:lnTo>
                  <a:pt x="130101" y="161667"/>
                </a:lnTo>
                <a:lnTo>
                  <a:pt x="161836" y="129962"/>
                </a:lnTo>
                <a:lnTo>
                  <a:pt x="196338" y="101208"/>
                </a:lnTo>
                <a:lnTo>
                  <a:pt x="233345" y="75597"/>
                </a:lnTo>
                <a:lnTo>
                  <a:pt x="272680" y="53317"/>
                </a:lnTo>
                <a:lnTo>
                  <a:pt x="314111" y="34656"/>
                </a:lnTo>
                <a:lnTo>
                  <a:pt x="357447" y="19803"/>
                </a:lnTo>
                <a:lnTo>
                  <a:pt x="402592" y="8949"/>
                </a:lnTo>
                <a:lnTo>
                  <a:pt x="449166" y="2285"/>
                </a:lnTo>
                <a:lnTo>
                  <a:pt x="497073" y="0"/>
                </a:lnTo>
                <a:lnTo>
                  <a:pt x="9885081" y="0"/>
                </a:lnTo>
                <a:lnTo>
                  <a:pt x="9932893" y="2285"/>
                </a:lnTo>
                <a:lnTo>
                  <a:pt x="9979467" y="8949"/>
                </a:lnTo>
                <a:lnTo>
                  <a:pt x="10024517" y="19803"/>
                </a:lnTo>
                <a:lnTo>
                  <a:pt x="10067853" y="34656"/>
                </a:lnTo>
                <a:lnTo>
                  <a:pt x="10109284" y="53317"/>
                </a:lnTo>
                <a:lnTo>
                  <a:pt x="10148619" y="75597"/>
                </a:lnTo>
                <a:lnTo>
                  <a:pt x="10185669" y="101208"/>
                </a:lnTo>
                <a:lnTo>
                  <a:pt x="10220147" y="129962"/>
                </a:lnTo>
                <a:lnTo>
                  <a:pt x="10251862" y="161667"/>
                </a:lnTo>
                <a:lnTo>
                  <a:pt x="10280626" y="196133"/>
                </a:lnTo>
                <a:lnTo>
                  <a:pt x="10306246" y="233170"/>
                </a:lnTo>
                <a:lnTo>
                  <a:pt x="10328532" y="272492"/>
                </a:lnTo>
                <a:lnTo>
                  <a:pt x="10347199" y="313908"/>
                </a:lnTo>
                <a:lnTo>
                  <a:pt x="10362058" y="357324"/>
                </a:lnTo>
                <a:lnTo>
                  <a:pt x="10372916" y="402359"/>
                </a:lnTo>
                <a:lnTo>
                  <a:pt x="10379582" y="448917"/>
                </a:lnTo>
                <a:lnTo>
                  <a:pt x="10381868" y="496808"/>
                </a:lnTo>
                <a:lnTo>
                  <a:pt x="10381868" y="2484516"/>
                </a:lnTo>
                <a:lnTo>
                  <a:pt x="10379582" y="2532407"/>
                </a:lnTo>
                <a:lnTo>
                  <a:pt x="10372916" y="2578965"/>
                </a:lnTo>
                <a:lnTo>
                  <a:pt x="10362058" y="2624000"/>
                </a:lnTo>
                <a:lnTo>
                  <a:pt x="10347199" y="2667416"/>
                </a:lnTo>
                <a:lnTo>
                  <a:pt x="10328532" y="2708832"/>
                </a:lnTo>
                <a:lnTo>
                  <a:pt x="10306246" y="2748154"/>
                </a:lnTo>
                <a:lnTo>
                  <a:pt x="10280626" y="2785191"/>
                </a:lnTo>
                <a:lnTo>
                  <a:pt x="10251862" y="2819657"/>
                </a:lnTo>
                <a:lnTo>
                  <a:pt x="10220147" y="2851362"/>
                </a:lnTo>
                <a:lnTo>
                  <a:pt x="10185669" y="2880116"/>
                </a:lnTo>
                <a:lnTo>
                  <a:pt x="10148619" y="2905727"/>
                </a:lnTo>
                <a:lnTo>
                  <a:pt x="10109284" y="2928007"/>
                </a:lnTo>
                <a:lnTo>
                  <a:pt x="10067758" y="2946668"/>
                </a:lnTo>
                <a:lnTo>
                  <a:pt x="10024327" y="2961521"/>
                </a:lnTo>
                <a:lnTo>
                  <a:pt x="9979183" y="2972375"/>
                </a:lnTo>
                <a:lnTo>
                  <a:pt x="9932419" y="2979039"/>
                </a:lnTo>
                <a:lnTo>
                  <a:pt x="9884994" y="2981324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0372" y="9691001"/>
            <a:ext cx="17817465" cy="409575"/>
          </a:xfrm>
          <a:custGeom>
            <a:avLst/>
            <a:gdLst/>
            <a:ahLst/>
            <a:cxnLst/>
            <a:rect l="l" t="t" r="r" b="b"/>
            <a:pathLst>
              <a:path w="17817465" h="409575">
                <a:moveTo>
                  <a:pt x="17817338" y="183743"/>
                </a:moveTo>
                <a:lnTo>
                  <a:pt x="17809147" y="146634"/>
                </a:lnTo>
                <a:lnTo>
                  <a:pt x="17809147" y="204609"/>
                </a:lnTo>
                <a:lnTo>
                  <a:pt x="17803711" y="249237"/>
                </a:lnTo>
                <a:lnTo>
                  <a:pt x="17788192" y="290296"/>
                </a:lnTo>
                <a:lnTo>
                  <a:pt x="17763909" y="326529"/>
                </a:lnTo>
                <a:lnTo>
                  <a:pt x="17732007" y="356730"/>
                </a:lnTo>
                <a:lnTo>
                  <a:pt x="17693717" y="379755"/>
                </a:lnTo>
                <a:lnTo>
                  <a:pt x="17650295" y="394487"/>
                </a:lnTo>
                <a:lnTo>
                  <a:pt x="17602962" y="399669"/>
                </a:lnTo>
                <a:lnTo>
                  <a:pt x="215709" y="399669"/>
                </a:lnTo>
                <a:lnTo>
                  <a:pt x="168376" y="394487"/>
                </a:lnTo>
                <a:lnTo>
                  <a:pt x="124955" y="379755"/>
                </a:lnTo>
                <a:lnTo>
                  <a:pt x="86664" y="356730"/>
                </a:lnTo>
                <a:lnTo>
                  <a:pt x="54762" y="326529"/>
                </a:lnTo>
                <a:lnTo>
                  <a:pt x="30480" y="290296"/>
                </a:lnTo>
                <a:lnTo>
                  <a:pt x="14947" y="249237"/>
                </a:lnTo>
                <a:lnTo>
                  <a:pt x="9525" y="204609"/>
                </a:lnTo>
                <a:lnTo>
                  <a:pt x="14947" y="159969"/>
                </a:lnTo>
                <a:lnTo>
                  <a:pt x="30480" y="118910"/>
                </a:lnTo>
                <a:lnTo>
                  <a:pt x="54762" y="82765"/>
                </a:lnTo>
                <a:lnTo>
                  <a:pt x="86664" y="52476"/>
                </a:lnTo>
                <a:lnTo>
                  <a:pt x="124853" y="29451"/>
                </a:lnTo>
                <a:lnTo>
                  <a:pt x="168287" y="14732"/>
                </a:lnTo>
                <a:lnTo>
                  <a:pt x="215620" y="9537"/>
                </a:lnTo>
                <a:lnTo>
                  <a:pt x="17602962" y="9537"/>
                </a:lnTo>
                <a:lnTo>
                  <a:pt x="17650295" y="14732"/>
                </a:lnTo>
                <a:lnTo>
                  <a:pt x="17693717" y="29451"/>
                </a:lnTo>
                <a:lnTo>
                  <a:pt x="17732007" y="52476"/>
                </a:lnTo>
                <a:lnTo>
                  <a:pt x="17763909" y="82677"/>
                </a:lnTo>
                <a:lnTo>
                  <a:pt x="17788192" y="118910"/>
                </a:lnTo>
                <a:lnTo>
                  <a:pt x="17803711" y="159969"/>
                </a:lnTo>
                <a:lnTo>
                  <a:pt x="17809147" y="204609"/>
                </a:lnTo>
                <a:lnTo>
                  <a:pt x="17809147" y="146634"/>
                </a:lnTo>
                <a:lnTo>
                  <a:pt x="17789614" y="102120"/>
                </a:lnTo>
                <a:lnTo>
                  <a:pt x="17763528" y="68046"/>
                </a:lnTo>
                <a:lnTo>
                  <a:pt x="17730762" y="39738"/>
                </a:lnTo>
                <a:lnTo>
                  <a:pt x="17664570" y="9537"/>
                </a:lnTo>
                <a:lnTo>
                  <a:pt x="17603051" y="0"/>
                </a:lnTo>
                <a:lnTo>
                  <a:pt x="215620" y="101"/>
                </a:lnTo>
                <a:lnTo>
                  <a:pt x="166281" y="5473"/>
                </a:lnTo>
                <a:lnTo>
                  <a:pt x="120853" y="20955"/>
                </a:lnTo>
                <a:lnTo>
                  <a:pt x="80860" y="45021"/>
                </a:lnTo>
                <a:lnTo>
                  <a:pt x="47434" y="76631"/>
                </a:lnTo>
                <a:lnTo>
                  <a:pt x="21996" y="114668"/>
                </a:lnTo>
                <a:lnTo>
                  <a:pt x="5715" y="157695"/>
                </a:lnTo>
                <a:lnTo>
                  <a:pt x="0" y="204609"/>
                </a:lnTo>
                <a:lnTo>
                  <a:pt x="5715" y="251510"/>
                </a:lnTo>
                <a:lnTo>
                  <a:pt x="21996" y="294728"/>
                </a:lnTo>
                <a:lnTo>
                  <a:pt x="47523" y="332663"/>
                </a:lnTo>
                <a:lnTo>
                  <a:pt x="80949" y="364286"/>
                </a:lnTo>
                <a:lnTo>
                  <a:pt x="120954" y="388353"/>
                </a:lnTo>
                <a:lnTo>
                  <a:pt x="166281" y="403733"/>
                </a:lnTo>
                <a:lnTo>
                  <a:pt x="215620" y="409105"/>
                </a:lnTo>
                <a:lnTo>
                  <a:pt x="17603051" y="409105"/>
                </a:lnTo>
                <a:lnTo>
                  <a:pt x="17649432" y="404393"/>
                </a:lnTo>
                <a:lnTo>
                  <a:pt x="17664202" y="399669"/>
                </a:lnTo>
                <a:lnTo>
                  <a:pt x="17664189" y="399478"/>
                </a:lnTo>
                <a:lnTo>
                  <a:pt x="17692383" y="390613"/>
                </a:lnTo>
                <a:lnTo>
                  <a:pt x="17730762" y="369189"/>
                </a:lnTo>
                <a:lnTo>
                  <a:pt x="17763528" y="340880"/>
                </a:lnTo>
                <a:lnTo>
                  <a:pt x="17789614" y="306806"/>
                </a:lnTo>
                <a:lnTo>
                  <a:pt x="17807902" y="267931"/>
                </a:lnTo>
                <a:lnTo>
                  <a:pt x="17817338" y="225183"/>
                </a:lnTo>
                <a:lnTo>
                  <a:pt x="17817338" y="183743"/>
                </a:lnTo>
                <a:close/>
              </a:path>
            </a:pathLst>
          </a:custGeom>
          <a:solidFill>
            <a:srgbClr val="00F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1231" y="2007266"/>
            <a:ext cx="40112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36" y="4729776"/>
            <a:ext cx="9941560" cy="419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800"/>
              </a:lnSpc>
              <a:spcBef>
                <a:spcPts val="100"/>
              </a:spcBef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Traditional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CCTV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systems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limited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their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inability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to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analyze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context,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leading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numerous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false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alarms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generalized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alerts.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This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presentation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explores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key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limitations</a:t>
            </a:r>
            <a:r>
              <a:rPr sz="315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conventional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CCTV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highlights</a:t>
            </a:r>
            <a:r>
              <a:rPr sz="31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advantages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integrating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smarter,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more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precise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security</a:t>
            </a:r>
            <a:r>
              <a:rPr sz="315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monitoring.</a:t>
            </a:r>
            <a:endParaRPr sz="3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566" y="508796"/>
            <a:ext cx="10381615" cy="2981325"/>
          </a:xfrm>
          <a:custGeom>
            <a:avLst/>
            <a:gdLst/>
            <a:ahLst/>
            <a:cxnLst/>
            <a:rect l="l" t="t" r="r" b="b"/>
            <a:pathLst>
              <a:path w="10381615" h="2981325">
                <a:moveTo>
                  <a:pt x="9886923" y="2981324"/>
                </a:moveTo>
                <a:lnTo>
                  <a:pt x="497165" y="2981324"/>
                </a:lnTo>
                <a:lnTo>
                  <a:pt x="449344" y="2979135"/>
                </a:lnTo>
                <a:lnTo>
                  <a:pt x="402762" y="2972470"/>
                </a:lnTo>
                <a:lnTo>
                  <a:pt x="357704" y="2961616"/>
                </a:lnTo>
                <a:lnTo>
                  <a:pt x="314360" y="2946763"/>
                </a:lnTo>
                <a:lnTo>
                  <a:pt x="272922" y="2928102"/>
                </a:lnTo>
                <a:lnTo>
                  <a:pt x="233579" y="2905822"/>
                </a:lnTo>
                <a:lnTo>
                  <a:pt x="196522" y="2880211"/>
                </a:lnTo>
                <a:lnTo>
                  <a:pt x="161943" y="2851362"/>
                </a:lnTo>
                <a:lnTo>
                  <a:pt x="130221" y="2819657"/>
                </a:lnTo>
                <a:lnTo>
                  <a:pt x="101452" y="2785191"/>
                </a:lnTo>
                <a:lnTo>
                  <a:pt x="75827" y="2748154"/>
                </a:lnTo>
                <a:lnTo>
                  <a:pt x="53536" y="2708832"/>
                </a:lnTo>
                <a:lnTo>
                  <a:pt x="34865" y="2667416"/>
                </a:lnTo>
                <a:lnTo>
                  <a:pt x="20004" y="2624000"/>
                </a:lnTo>
                <a:lnTo>
                  <a:pt x="9145" y="2578965"/>
                </a:lnTo>
                <a:lnTo>
                  <a:pt x="2476" y="2532407"/>
                </a:lnTo>
                <a:lnTo>
                  <a:pt x="0" y="2484516"/>
                </a:lnTo>
                <a:lnTo>
                  <a:pt x="0" y="496903"/>
                </a:lnTo>
                <a:lnTo>
                  <a:pt x="2286" y="449012"/>
                </a:lnTo>
                <a:lnTo>
                  <a:pt x="8954" y="402454"/>
                </a:lnTo>
                <a:lnTo>
                  <a:pt x="19814" y="357420"/>
                </a:lnTo>
                <a:lnTo>
                  <a:pt x="34674" y="314004"/>
                </a:lnTo>
                <a:lnTo>
                  <a:pt x="53346" y="272587"/>
                </a:lnTo>
                <a:lnTo>
                  <a:pt x="75637" y="233265"/>
                </a:lnTo>
                <a:lnTo>
                  <a:pt x="101262" y="196228"/>
                </a:lnTo>
                <a:lnTo>
                  <a:pt x="130030" y="161762"/>
                </a:lnTo>
                <a:lnTo>
                  <a:pt x="161752" y="130057"/>
                </a:lnTo>
                <a:lnTo>
                  <a:pt x="196237" y="101303"/>
                </a:lnTo>
                <a:lnTo>
                  <a:pt x="233388" y="75597"/>
                </a:lnTo>
                <a:lnTo>
                  <a:pt x="272731" y="53317"/>
                </a:lnTo>
                <a:lnTo>
                  <a:pt x="314169" y="34656"/>
                </a:lnTo>
                <a:lnTo>
                  <a:pt x="357513" y="19803"/>
                </a:lnTo>
                <a:lnTo>
                  <a:pt x="402667" y="8949"/>
                </a:lnTo>
                <a:lnTo>
                  <a:pt x="449249" y="2285"/>
                </a:lnTo>
                <a:lnTo>
                  <a:pt x="497165" y="0"/>
                </a:lnTo>
                <a:lnTo>
                  <a:pt x="9886923" y="0"/>
                </a:lnTo>
                <a:lnTo>
                  <a:pt x="9934744" y="2285"/>
                </a:lnTo>
                <a:lnTo>
                  <a:pt x="9981327" y="8949"/>
                </a:lnTo>
                <a:lnTo>
                  <a:pt x="10026385" y="19803"/>
                </a:lnTo>
                <a:lnTo>
                  <a:pt x="10069729" y="34656"/>
                </a:lnTo>
                <a:lnTo>
                  <a:pt x="10111167" y="53317"/>
                </a:lnTo>
                <a:lnTo>
                  <a:pt x="10150510" y="75597"/>
                </a:lnTo>
                <a:lnTo>
                  <a:pt x="10187566" y="101208"/>
                </a:lnTo>
                <a:lnTo>
                  <a:pt x="10222051" y="129962"/>
                </a:lnTo>
                <a:lnTo>
                  <a:pt x="10253772" y="161667"/>
                </a:lnTo>
                <a:lnTo>
                  <a:pt x="10282541" y="196133"/>
                </a:lnTo>
                <a:lnTo>
                  <a:pt x="10308166" y="233170"/>
                </a:lnTo>
                <a:lnTo>
                  <a:pt x="10330456" y="272492"/>
                </a:lnTo>
                <a:lnTo>
                  <a:pt x="10349127" y="313908"/>
                </a:lnTo>
                <a:lnTo>
                  <a:pt x="10363988" y="357324"/>
                </a:lnTo>
                <a:lnTo>
                  <a:pt x="10374848" y="402359"/>
                </a:lnTo>
                <a:lnTo>
                  <a:pt x="10381516" y="448917"/>
                </a:lnTo>
                <a:lnTo>
                  <a:pt x="10381611" y="2529646"/>
                </a:lnTo>
                <a:lnTo>
                  <a:pt x="10374753" y="2578965"/>
                </a:lnTo>
                <a:lnTo>
                  <a:pt x="10363893" y="2624000"/>
                </a:lnTo>
                <a:lnTo>
                  <a:pt x="10349032" y="2667416"/>
                </a:lnTo>
                <a:lnTo>
                  <a:pt x="10330361" y="2708832"/>
                </a:lnTo>
                <a:lnTo>
                  <a:pt x="10308070" y="2748154"/>
                </a:lnTo>
                <a:lnTo>
                  <a:pt x="10282446" y="2785191"/>
                </a:lnTo>
                <a:lnTo>
                  <a:pt x="10253677" y="2819657"/>
                </a:lnTo>
                <a:lnTo>
                  <a:pt x="10221955" y="2851362"/>
                </a:lnTo>
                <a:lnTo>
                  <a:pt x="10187471" y="2880116"/>
                </a:lnTo>
                <a:lnTo>
                  <a:pt x="10150415" y="2905727"/>
                </a:lnTo>
                <a:lnTo>
                  <a:pt x="10111072" y="2928007"/>
                </a:lnTo>
                <a:lnTo>
                  <a:pt x="10069634" y="2946668"/>
                </a:lnTo>
                <a:lnTo>
                  <a:pt x="10026289" y="2961521"/>
                </a:lnTo>
                <a:lnTo>
                  <a:pt x="9981231" y="2972375"/>
                </a:lnTo>
                <a:lnTo>
                  <a:pt x="9934649" y="2979040"/>
                </a:lnTo>
                <a:lnTo>
                  <a:pt x="9886828" y="298123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0436" y="9691166"/>
            <a:ext cx="17817465" cy="409575"/>
          </a:xfrm>
          <a:custGeom>
            <a:avLst/>
            <a:gdLst/>
            <a:ahLst/>
            <a:cxnLst/>
            <a:rect l="l" t="t" r="r" b="b"/>
            <a:pathLst>
              <a:path w="17817465" h="409575">
                <a:moveTo>
                  <a:pt x="17817072" y="180632"/>
                </a:moveTo>
                <a:lnTo>
                  <a:pt x="17809553" y="146710"/>
                </a:lnTo>
                <a:lnTo>
                  <a:pt x="17809553" y="204508"/>
                </a:lnTo>
                <a:lnTo>
                  <a:pt x="17804130" y="249237"/>
                </a:lnTo>
                <a:lnTo>
                  <a:pt x="17788598" y="290296"/>
                </a:lnTo>
                <a:lnTo>
                  <a:pt x="17764214" y="326529"/>
                </a:lnTo>
                <a:lnTo>
                  <a:pt x="17732312" y="356730"/>
                </a:lnTo>
                <a:lnTo>
                  <a:pt x="17693932" y="379755"/>
                </a:lnTo>
                <a:lnTo>
                  <a:pt x="17650600" y="394385"/>
                </a:lnTo>
                <a:lnTo>
                  <a:pt x="17650308" y="394385"/>
                </a:lnTo>
                <a:lnTo>
                  <a:pt x="17604270" y="399389"/>
                </a:lnTo>
                <a:lnTo>
                  <a:pt x="215722" y="399389"/>
                </a:lnTo>
                <a:lnTo>
                  <a:pt x="168389" y="394284"/>
                </a:lnTo>
                <a:lnTo>
                  <a:pt x="124955" y="379666"/>
                </a:lnTo>
                <a:lnTo>
                  <a:pt x="86664" y="356641"/>
                </a:lnTo>
                <a:lnTo>
                  <a:pt x="54762" y="326440"/>
                </a:lnTo>
                <a:lnTo>
                  <a:pt x="30480" y="290195"/>
                </a:lnTo>
                <a:lnTo>
                  <a:pt x="14960" y="249237"/>
                </a:lnTo>
                <a:lnTo>
                  <a:pt x="9525" y="204508"/>
                </a:lnTo>
                <a:lnTo>
                  <a:pt x="14960" y="159867"/>
                </a:lnTo>
                <a:lnTo>
                  <a:pt x="30378" y="118821"/>
                </a:lnTo>
                <a:lnTo>
                  <a:pt x="54673" y="82575"/>
                </a:lnTo>
                <a:lnTo>
                  <a:pt x="86575" y="52374"/>
                </a:lnTo>
                <a:lnTo>
                  <a:pt x="124866" y="29349"/>
                </a:lnTo>
                <a:lnTo>
                  <a:pt x="168287" y="14630"/>
                </a:lnTo>
                <a:lnTo>
                  <a:pt x="215620" y="9436"/>
                </a:lnTo>
                <a:lnTo>
                  <a:pt x="17603356" y="9436"/>
                </a:lnTo>
                <a:lnTo>
                  <a:pt x="17650689" y="14630"/>
                </a:lnTo>
                <a:lnTo>
                  <a:pt x="17694123" y="29349"/>
                </a:lnTo>
                <a:lnTo>
                  <a:pt x="17732413" y="52374"/>
                </a:lnTo>
                <a:lnTo>
                  <a:pt x="17764316" y="82575"/>
                </a:lnTo>
                <a:lnTo>
                  <a:pt x="17788598" y="118821"/>
                </a:lnTo>
                <a:lnTo>
                  <a:pt x="17804130" y="159867"/>
                </a:lnTo>
                <a:lnTo>
                  <a:pt x="17809553" y="204508"/>
                </a:lnTo>
                <a:lnTo>
                  <a:pt x="17809553" y="146710"/>
                </a:lnTo>
                <a:lnTo>
                  <a:pt x="17790033" y="102209"/>
                </a:lnTo>
                <a:lnTo>
                  <a:pt x="17763935" y="68135"/>
                </a:lnTo>
                <a:lnTo>
                  <a:pt x="17731169" y="39827"/>
                </a:lnTo>
                <a:lnTo>
                  <a:pt x="17664595" y="9436"/>
                </a:lnTo>
                <a:lnTo>
                  <a:pt x="17603458" y="0"/>
                </a:lnTo>
                <a:lnTo>
                  <a:pt x="215620" y="0"/>
                </a:lnTo>
                <a:lnTo>
                  <a:pt x="166293" y="5384"/>
                </a:lnTo>
                <a:lnTo>
                  <a:pt x="120865" y="20764"/>
                </a:lnTo>
                <a:lnTo>
                  <a:pt x="80860" y="44831"/>
                </a:lnTo>
                <a:lnTo>
                  <a:pt x="47434" y="76542"/>
                </a:lnTo>
                <a:lnTo>
                  <a:pt x="21996" y="114477"/>
                </a:lnTo>
                <a:lnTo>
                  <a:pt x="5715" y="157505"/>
                </a:lnTo>
                <a:lnTo>
                  <a:pt x="0" y="204508"/>
                </a:lnTo>
                <a:lnTo>
                  <a:pt x="5715" y="251409"/>
                </a:lnTo>
                <a:lnTo>
                  <a:pt x="21996" y="294347"/>
                </a:lnTo>
                <a:lnTo>
                  <a:pt x="47523" y="332384"/>
                </a:lnTo>
                <a:lnTo>
                  <a:pt x="80949" y="364096"/>
                </a:lnTo>
                <a:lnTo>
                  <a:pt x="120954" y="388251"/>
                </a:lnTo>
                <a:lnTo>
                  <a:pt x="166293" y="403631"/>
                </a:lnTo>
                <a:lnTo>
                  <a:pt x="215620" y="409016"/>
                </a:lnTo>
                <a:lnTo>
                  <a:pt x="17603458" y="409016"/>
                </a:lnTo>
                <a:lnTo>
                  <a:pt x="17649927" y="404202"/>
                </a:lnTo>
                <a:lnTo>
                  <a:pt x="17664786" y="399478"/>
                </a:lnTo>
                <a:lnTo>
                  <a:pt x="17664976" y="399478"/>
                </a:lnTo>
                <a:lnTo>
                  <a:pt x="17731169" y="369277"/>
                </a:lnTo>
                <a:lnTo>
                  <a:pt x="17763935" y="340969"/>
                </a:lnTo>
                <a:lnTo>
                  <a:pt x="17790033" y="306895"/>
                </a:lnTo>
                <a:lnTo>
                  <a:pt x="17808309" y="268020"/>
                </a:lnTo>
                <a:lnTo>
                  <a:pt x="17817072" y="228473"/>
                </a:lnTo>
                <a:lnTo>
                  <a:pt x="17817072" y="180632"/>
                </a:lnTo>
                <a:close/>
              </a:path>
            </a:pathLst>
          </a:custGeom>
          <a:solidFill>
            <a:srgbClr val="00F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4984" y="2599915"/>
            <a:ext cx="6191249" cy="50181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33318" y="1575278"/>
            <a:ext cx="799210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7935" algn="l"/>
              </a:tabLst>
            </a:pPr>
            <a:r>
              <a:rPr spc="-10" dirty="0"/>
              <a:t>PROBLEM</a:t>
            </a:r>
            <a:r>
              <a:rPr dirty="0"/>
              <a:t>	</a:t>
            </a:r>
            <a:r>
              <a:rPr spc="-10" dirty="0"/>
              <a:t>STATEMENT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1156" y="3676572"/>
            <a:ext cx="8684271" cy="4167679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46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Traditional</a:t>
            </a:r>
            <a:r>
              <a:rPr sz="4600" spc="-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600" dirty="0">
                <a:solidFill>
                  <a:srgbClr val="FFFFFF"/>
                </a:solidFill>
                <a:latin typeface="Microsoft Sans Serif"/>
                <a:cs typeface="Microsoft Sans Serif"/>
              </a:rPr>
              <a:t>CCTV</a:t>
            </a:r>
            <a:r>
              <a:rPr sz="4600" spc="-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systems:</a:t>
            </a:r>
            <a:endParaRPr sz="4600" dirty="0">
              <a:latin typeface="Microsoft Sans Serif"/>
              <a:cs typeface="Microsoft Sans Serif"/>
            </a:endParaRPr>
          </a:p>
          <a:p>
            <a:pPr marL="544194" indent="-514350">
              <a:lnSpc>
                <a:spcPct val="100000"/>
              </a:lnSpc>
              <a:spcBef>
                <a:spcPts val="905"/>
              </a:spcBef>
              <a:buFont typeface="+mj-lt"/>
              <a:buAutoNum type="arabicPeriod"/>
              <a:tabLst>
                <a:tab pos="899794" algn="l"/>
              </a:tabLst>
            </a:pP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Record</a:t>
            </a:r>
            <a:r>
              <a:rPr sz="33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everything but</a:t>
            </a:r>
            <a:r>
              <a:rPr sz="33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understand</a:t>
            </a:r>
            <a:r>
              <a:rPr lang="en-IN" sz="3350" dirty="0">
                <a:latin typeface="Microsoft Sans Serif"/>
                <a:cs typeface="Microsoft Sans Serif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nothing.</a:t>
            </a:r>
            <a:endParaRPr sz="3350" dirty="0">
              <a:latin typeface="Microsoft Sans Serif"/>
              <a:cs typeface="Microsoft Sans Serif"/>
            </a:endParaRPr>
          </a:p>
          <a:p>
            <a:pPr marL="544195" marR="618490" indent="-514350">
              <a:lnSpc>
                <a:spcPct val="147400"/>
              </a:lnSpc>
              <a:buFont typeface="+mj-lt"/>
              <a:buAutoNum type="arabicPeriod"/>
              <a:tabLst>
                <a:tab pos="427355" algn="l"/>
                <a:tab pos="899794" algn="l"/>
              </a:tabLst>
            </a:pP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Trigger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alerts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simple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motion.</a:t>
            </a:r>
            <a:r>
              <a:rPr sz="335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Treat</a:t>
            </a:r>
            <a:r>
              <a:rPr sz="33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335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PM</a:t>
            </a:r>
            <a:r>
              <a:rPr sz="33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3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33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AM</a:t>
            </a:r>
            <a:r>
              <a:rPr sz="335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3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same.</a:t>
            </a:r>
            <a:endParaRPr sz="3350" dirty="0">
              <a:latin typeface="Microsoft Sans Serif"/>
              <a:cs typeface="Microsoft Sans Serif"/>
            </a:endParaRPr>
          </a:p>
          <a:p>
            <a:pPr marL="544195" indent="-514350">
              <a:lnSpc>
                <a:spcPts val="3995"/>
              </a:lnSpc>
              <a:spcBef>
                <a:spcPts val="930"/>
              </a:spcBef>
              <a:buFont typeface="+mj-lt"/>
              <a:buAutoNum type="arabicPeriod"/>
              <a:tabLst>
                <a:tab pos="426720" algn="l"/>
              </a:tabLst>
            </a:pP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Overwhelm</a:t>
            </a:r>
            <a:r>
              <a:rPr sz="33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owners</a:t>
            </a:r>
            <a:r>
              <a:rPr sz="33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33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false</a:t>
            </a:r>
            <a:r>
              <a:rPr sz="33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alarms.</a:t>
            </a:r>
            <a:endParaRPr sz="3350" dirty="0">
              <a:latin typeface="Microsoft Sans Serif"/>
              <a:cs typeface="Microsoft Sans Serif"/>
            </a:endParaRPr>
          </a:p>
          <a:p>
            <a:pPr marL="544195" indent="-514350">
              <a:lnSpc>
                <a:spcPts val="3995"/>
              </a:lnSpc>
              <a:buFont typeface="+mj-lt"/>
              <a:buAutoNum type="arabicPeriod"/>
              <a:tabLst>
                <a:tab pos="426720" algn="l"/>
              </a:tabLst>
            </a:pP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Lack</a:t>
            </a:r>
            <a:r>
              <a:rPr sz="335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context</a:t>
            </a:r>
            <a:r>
              <a:rPr sz="33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awareness.</a:t>
            </a:r>
            <a:endParaRPr sz="33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19"/>
            <a:ext cx="9142780" cy="102857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82697" y="1902548"/>
            <a:ext cx="131000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0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82697" y="3859044"/>
            <a:ext cx="5661025" cy="36449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350"/>
              </a:spcBef>
            </a:pPr>
            <a:r>
              <a:rPr sz="8000" b="1" spc="-20" dirty="0">
                <a:solidFill>
                  <a:srgbClr val="FFFFFF"/>
                </a:solidFill>
                <a:latin typeface="Arial"/>
                <a:cs typeface="Arial"/>
              </a:rPr>
              <a:t>COMPLETE </a:t>
            </a:r>
            <a:r>
              <a:rPr sz="8000" b="1" spc="-10" dirty="0">
                <a:solidFill>
                  <a:srgbClr val="FFFFFF"/>
                </a:solidFill>
                <a:latin typeface="Arial"/>
                <a:cs typeface="Arial"/>
              </a:rPr>
              <a:t>FEATURE </a:t>
            </a:r>
            <a:r>
              <a:rPr sz="8000" b="1" spc="-25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2780" cy="1028573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48800" y="603760"/>
            <a:ext cx="8357165" cy="3631918"/>
          </a:xfrm>
          <a:custGeom>
            <a:avLst/>
            <a:gdLst/>
            <a:ahLst/>
            <a:cxnLst/>
            <a:rect l="l" t="t" r="r" b="b"/>
            <a:pathLst>
              <a:path w="8191500" h="3638550">
                <a:moveTo>
                  <a:pt x="7798832" y="3638264"/>
                </a:moveTo>
                <a:lnTo>
                  <a:pt x="392175" y="3638264"/>
                </a:lnTo>
                <a:lnTo>
                  <a:pt x="354453" y="3635504"/>
                </a:lnTo>
                <a:lnTo>
                  <a:pt x="282152" y="3614087"/>
                </a:lnTo>
                <a:lnTo>
                  <a:pt x="247955" y="3595908"/>
                </a:lnTo>
                <a:lnTo>
                  <a:pt x="215282" y="3573159"/>
                </a:lnTo>
                <a:lnTo>
                  <a:pt x="184228" y="3546032"/>
                </a:lnTo>
                <a:lnTo>
                  <a:pt x="154984" y="3514812"/>
                </a:lnTo>
                <a:lnTo>
                  <a:pt x="127740" y="3479689"/>
                </a:lnTo>
                <a:lnTo>
                  <a:pt x="102687" y="3440950"/>
                </a:lnTo>
                <a:lnTo>
                  <a:pt x="80016" y="3398879"/>
                </a:lnTo>
                <a:lnTo>
                  <a:pt x="59821" y="3353762"/>
                </a:lnTo>
                <a:lnTo>
                  <a:pt x="42294" y="3305790"/>
                </a:lnTo>
                <a:lnTo>
                  <a:pt x="27529" y="3255153"/>
                </a:lnTo>
                <a:lnTo>
                  <a:pt x="15812" y="3202231"/>
                </a:lnTo>
                <a:lnTo>
                  <a:pt x="7239" y="3147216"/>
                </a:lnTo>
                <a:lnTo>
                  <a:pt x="2000" y="3090392"/>
                </a:lnTo>
                <a:lnTo>
                  <a:pt x="0" y="3031950"/>
                </a:lnTo>
                <a:lnTo>
                  <a:pt x="0" y="606313"/>
                </a:lnTo>
                <a:lnTo>
                  <a:pt x="1809" y="547871"/>
                </a:lnTo>
                <a:lnTo>
                  <a:pt x="7049" y="491047"/>
                </a:lnTo>
                <a:lnTo>
                  <a:pt x="15622" y="436032"/>
                </a:lnTo>
                <a:lnTo>
                  <a:pt x="27338" y="383110"/>
                </a:lnTo>
                <a:lnTo>
                  <a:pt x="42103" y="332473"/>
                </a:lnTo>
                <a:lnTo>
                  <a:pt x="59726" y="284596"/>
                </a:lnTo>
                <a:lnTo>
                  <a:pt x="79921" y="239479"/>
                </a:lnTo>
                <a:lnTo>
                  <a:pt x="102592" y="197408"/>
                </a:lnTo>
                <a:lnTo>
                  <a:pt x="127645" y="158669"/>
                </a:lnTo>
                <a:lnTo>
                  <a:pt x="154888" y="123547"/>
                </a:lnTo>
                <a:lnTo>
                  <a:pt x="184132" y="92327"/>
                </a:lnTo>
                <a:lnTo>
                  <a:pt x="215186" y="65200"/>
                </a:lnTo>
                <a:lnTo>
                  <a:pt x="247860" y="42451"/>
                </a:lnTo>
                <a:lnTo>
                  <a:pt x="282057" y="24271"/>
                </a:lnTo>
                <a:lnTo>
                  <a:pt x="354358" y="2760"/>
                </a:lnTo>
                <a:lnTo>
                  <a:pt x="392175" y="0"/>
                </a:lnTo>
                <a:lnTo>
                  <a:pt x="7798832" y="0"/>
                </a:lnTo>
                <a:lnTo>
                  <a:pt x="7873323" y="10946"/>
                </a:lnTo>
                <a:lnTo>
                  <a:pt x="7943147" y="42356"/>
                </a:lnTo>
                <a:lnTo>
                  <a:pt x="7975820" y="65104"/>
                </a:lnTo>
                <a:lnTo>
                  <a:pt x="8006874" y="92232"/>
                </a:lnTo>
                <a:lnTo>
                  <a:pt x="8036119" y="123452"/>
                </a:lnTo>
                <a:lnTo>
                  <a:pt x="8063362" y="158574"/>
                </a:lnTo>
                <a:lnTo>
                  <a:pt x="8088415" y="197313"/>
                </a:lnTo>
                <a:lnTo>
                  <a:pt x="8111086" y="239384"/>
                </a:lnTo>
                <a:lnTo>
                  <a:pt x="8131281" y="284501"/>
                </a:lnTo>
                <a:lnTo>
                  <a:pt x="8148808" y="332473"/>
                </a:lnTo>
                <a:lnTo>
                  <a:pt x="8163573" y="383110"/>
                </a:lnTo>
                <a:lnTo>
                  <a:pt x="8175290" y="436032"/>
                </a:lnTo>
                <a:lnTo>
                  <a:pt x="8183863" y="491047"/>
                </a:lnTo>
                <a:lnTo>
                  <a:pt x="8189102" y="547871"/>
                </a:lnTo>
                <a:lnTo>
                  <a:pt x="8190912" y="606313"/>
                </a:lnTo>
                <a:lnTo>
                  <a:pt x="8190912" y="3031950"/>
                </a:lnTo>
                <a:lnTo>
                  <a:pt x="8189102" y="3090392"/>
                </a:lnTo>
                <a:lnTo>
                  <a:pt x="8183863" y="3147217"/>
                </a:lnTo>
                <a:lnTo>
                  <a:pt x="8175290" y="3202232"/>
                </a:lnTo>
                <a:lnTo>
                  <a:pt x="8163573" y="3255154"/>
                </a:lnTo>
                <a:lnTo>
                  <a:pt x="8148808" y="3305791"/>
                </a:lnTo>
                <a:lnTo>
                  <a:pt x="8131281" y="3353763"/>
                </a:lnTo>
                <a:lnTo>
                  <a:pt x="8111086" y="3398880"/>
                </a:lnTo>
                <a:lnTo>
                  <a:pt x="8088415" y="3440951"/>
                </a:lnTo>
                <a:lnTo>
                  <a:pt x="8063362" y="3479690"/>
                </a:lnTo>
                <a:lnTo>
                  <a:pt x="8036119" y="3514813"/>
                </a:lnTo>
                <a:lnTo>
                  <a:pt x="8006874" y="3546032"/>
                </a:lnTo>
                <a:lnTo>
                  <a:pt x="7975820" y="3573160"/>
                </a:lnTo>
                <a:lnTo>
                  <a:pt x="7943147" y="3595908"/>
                </a:lnTo>
                <a:lnTo>
                  <a:pt x="7908949" y="3614088"/>
                </a:lnTo>
                <a:lnTo>
                  <a:pt x="7836649" y="3635504"/>
                </a:lnTo>
                <a:lnTo>
                  <a:pt x="7798832" y="3638264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55137" y="1752636"/>
            <a:ext cx="8024407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IN" spc="-10" dirty="0"/>
              <a:t>Person </a:t>
            </a:r>
            <a:r>
              <a:rPr lang="en-IN" spc="-10" dirty="0">
                <a:solidFill>
                  <a:srgbClr val="FFFFFF"/>
                </a:solidFill>
              </a:rPr>
              <a:t>Detection </a:t>
            </a:r>
            <a:r>
              <a:rPr lang="en-IN" dirty="0">
                <a:solidFill>
                  <a:srgbClr val="FFFFFF"/>
                </a:solidFill>
              </a:rPr>
              <a:t>&amp;</a:t>
            </a:r>
            <a:r>
              <a:rPr lang="en-IN" spc="-70" dirty="0">
                <a:solidFill>
                  <a:srgbClr val="FFFFFF"/>
                </a:solidFill>
              </a:rPr>
              <a:t> </a:t>
            </a:r>
            <a:r>
              <a:rPr lang="en-IN" spc="-10" dirty="0">
                <a:solidFill>
                  <a:srgbClr val="FFFFFF"/>
                </a:solidFill>
              </a:rPr>
              <a:t>Property </a:t>
            </a:r>
            <a:r>
              <a:rPr lang="en-IN" spc="-20" dirty="0">
                <a:solidFill>
                  <a:srgbClr val="FFFFFF"/>
                </a:solidFill>
              </a:rPr>
              <a:t>Mode </a:t>
            </a:r>
            <a:r>
              <a:rPr lang="en-IN" spc="-10" dirty="0">
                <a:solidFill>
                  <a:srgbClr val="FFFFFF"/>
                </a:solidFill>
              </a:rPr>
              <a:t>Selection</a:t>
            </a:r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342290" y="3014527"/>
            <a:ext cx="18402910" cy="6920874"/>
          </a:xfrm>
          <a:prstGeom prst="rect">
            <a:avLst/>
          </a:prstGeom>
        </p:spPr>
        <p:txBody>
          <a:bodyPr vert="horz" wrap="square" lIns="0" tIns="1307343" rIns="0" bIns="0" rtlCol="0">
            <a:spAutoFit/>
          </a:bodyPr>
          <a:lstStyle/>
          <a:p>
            <a:pPr marL="9956165" marR="285115" indent="-571500">
              <a:lnSpc>
                <a:spcPct val="145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Uses pretrained YOLO model. </a:t>
            </a:r>
          </a:p>
          <a:p>
            <a:pPr marL="9956165" marR="285115" indent="-571500">
              <a:lnSpc>
                <a:spcPct val="145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Filters only the person class. </a:t>
            </a:r>
          </a:p>
          <a:p>
            <a:pPr marL="9956165" marR="285115" indent="-571500">
              <a:lnSpc>
                <a:spcPct val="145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Ignores random motion (curtains, shadows, animals). </a:t>
            </a:r>
          </a:p>
          <a:p>
            <a:pPr marL="9956165" marR="285115" indent="-571500">
              <a:lnSpc>
                <a:spcPct val="145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User can selects </a:t>
            </a:r>
            <a:r>
              <a:rPr lang="en-US" sz="3600" dirty="0" err="1"/>
              <a:t>Home,Shop,Office</a:t>
            </a:r>
            <a:r>
              <a:rPr lang="en-US" sz="3600" dirty="0"/>
              <a:t> Each mode activates different contextual rules.</a:t>
            </a:r>
            <a:endParaRPr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4970" y="711466"/>
            <a:ext cx="15998060" cy="1582484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 algn="ctr">
              <a:lnSpc>
                <a:spcPts val="5700"/>
              </a:lnSpc>
              <a:spcBef>
                <a:spcPts val="940"/>
              </a:spcBef>
              <a:tabLst>
                <a:tab pos="4554855" algn="l"/>
              </a:tabLst>
            </a:pPr>
            <a:r>
              <a:rPr lang="en-US" sz="5400" dirty="0">
                <a:solidFill>
                  <a:schemeClr val="bg1"/>
                </a:solidFill>
              </a:rPr>
              <a:t>Operational Time Awareness &amp; Person Count Monitoring</a:t>
            </a:r>
            <a:endParaRPr sz="5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138" y="5301319"/>
            <a:ext cx="161924" cy="161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138" y="5958544"/>
            <a:ext cx="161924" cy="1619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138" y="7930219"/>
            <a:ext cx="161924" cy="1619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138" y="8587444"/>
            <a:ext cx="161924" cy="1619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8563" y="3002619"/>
            <a:ext cx="12657455" cy="594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00"/>
              </a:lnSpc>
              <a:spcBef>
                <a:spcPts val="100"/>
              </a:spcBef>
            </a:pPr>
            <a:r>
              <a:rPr sz="4350" spc="-380" dirty="0">
                <a:solidFill>
                  <a:srgbClr val="FFFFFF"/>
                </a:solidFill>
                <a:latin typeface="Arial MT"/>
                <a:cs typeface="Arial MT"/>
              </a:rPr>
              <a:t>Operational</a:t>
            </a:r>
            <a:r>
              <a:rPr sz="4350" spc="-7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3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4350" spc="-7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365" dirty="0">
                <a:solidFill>
                  <a:srgbClr val="FFFFFF"/>
                </a:solidFill>
                <a:latin typeface="Arial MT"/>
                <a:cs typeface="Arial MT"/>
              </a:rPr>
              <a:t>Awareness</a:t>
            </a:r>
            <a:r>
              <a:rPr sz="4350" spc="-7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4350" spc="-7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345" dirty="0">
                <a:solidFill>
                  <a:srgbClr val="FFFFFF"/>
                </a:solidFill>
                <a:latin typeface="Arial MT"/>
                <a:cs typeface="Arial MT"/>
              </a:rPr>
              <a:t>Person</a:t>
            </a:r>
            <a:r>
              <a:rPr sz="4350" spc="-7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335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r>
              <a:rPr sz="4350" spc="-7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385" dirty="0">
                <a:solidFill>
                  <a:srgbClr val="FFFFFF"/>
                </a:solidFill>
                <a:latin typeface="Arial MT"/>
                <a:cs typeface="Arial MT"/>
              </a:rPr>
              <a:t>Monitoring</a:t>
            </a:r>
            <a:endParaRPr sz="4350" dirty="0">
              <a:latin typeface="Arial MT"/>
              <a:cs typeface="Arial MT"/>
            </a:endParaRPr>
          </a:p>
          <a:p>
            <a:pPr marL="12700">
              <a:lnSpc>
                <a:spcPts val="5195"/>
              </a:lnSpc>
            </a:pPr>
            <a:r>
              <a:rPr sz="4350" spc="-13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4350" spc="-105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435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10" dirty="0">
                <a:solidFill>
                  <a:srgbClr val="FFFFFF"/>
                </a:solidFill>
                <a:latin typeface="Arial MT"/>
                <a:cs typeface="Arial MT"/>
              </a:rPr>
              <a:t>defines:</a:t>
            </a:r>
            <a:endParaRPr sz="43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4350" dirty="0">
              <a:latin typeface="Arial MT"/>
              <a:cs typeface="Arial MT"/>
            </a:endParaRPr>
          </a:p>
          <a:p>
            <a:pPr marL="549910" marR="9168130">
              <a:lnSpc>
                <a:spcPts val="5180"/>
              </a:lnSpc>
            </a:pPr>
            <a:r>
              <a:rPr sz="4350" spc="-250" dirty="0">
                <a:solidFill>
                  <a:srgbClr val="FFFFFF"/>
                </a:solidFill>
                <a:latin typeface="Arial MT"/>
                <a:cs typeface="Arial MT"/>
              </a:rPr>
              <a:t>Opening</a:t>
            </a:r>
            <a:r>
              <a:rPr sz="4350" spc="-4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175" dirty="0">
                <a:solidFill>
                  <a:srgbClr val="FFFFFF"/>
                </a:solidFill>
                <a:latin typeface="Arial MT"/>
                <a:cs typeface="Arial MT"/>
              </a:rPr>
              <a:t>time </a:t>
            </a:r>
            <a:r>
              <a:rPr sz="4350" spc="-254" dirty="0">
                <a:solidFill>
                  <a:srgbClr val="FFFFFF"/>
                </a:solidFill>
                <a:latin typeface="Arial MT"/>
                <a:cs typeface="Arial MT"/>
              </a:rPr>
              <a:t>Closing</a:t>
            </a:r>
            <a:r>
              <a:rPr sz="4350" spc="-5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4350" dirty="0">
              <a:latin typeface="Arial MT"/>
              <a:cs typeface="Arial MT"/>
            </a:endParaRPr>
          </a:p>
          <a:p>
            <a:pPr marL="549910">
              <a:lnSpc>
                <a:spcPts val="4980"/>
              </a:lnSpc>
            </a:pPr>
            <a:r>
              <a:rPr sz="4350" spc="-285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4350" spc="-6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80" dirty="0">
                <a:solidFill>
                  <a:srgbClr val="FFFFFF"/>
                </a:solidFill>
                <a:latin typeface="Arial MT"/>
                <a:cs typeface="Arial MT"/>
              </a:rPr>
              <a:t>checks</a:t>
            </a:r>
            <a:r>
              <a:rPr sz="4350" spc="-6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345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4350" spc="-265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4350" spc="-6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90" dirty="0">
                <a:solidFill>
                  <a:srgbClr val="FFFFFF"/>
                </a:solidFill>
                <a:latin typeface="Arial MT"/>
                <a:cs typeface="Arial MT"/>
              </a:rPr>
              <a:t>clock.</a:t>
            </a:r>
            <a:endParaRPr sz="4350" dirty="0">
              <a:latin typeface="Arial MT"/>
              <a:cs typeface="Arial MT"/>
            </a:endParaRPr>
          </a:p>
          <a:p>
            <a:pPr marL="549910">
              <a:lnSpc>
                <a:spcPts val="5175"/>
              </a:lnSpc>
            </a:pPr>
            <a:r>
              <a:rPr sz="4350" spc="-29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4350" spc="-250" dirty="0">
                <a:solidFill>
                  <a:srgbClr val="FFFFFF"/>
                </a:solidFill>
                <a:latin typeface="Arial MT"/>
                <a:cs typeface="Arial MT"/>
              </a:rPr>
              <a:t>Person</a:t>
            </a:r>
            <a:r>
              <a:rPr sz="4350" spc="-5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5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endParaRPr sz="4350" dirty="0">
              <a:latin typeface="Arial MT"/>
              <a:cs typeface="Arial MT"/>
            </a:endParaRPr>
          </a:p>
          <a:p>
            <a:pPr marL="549910">
              <a:lnSpc>
                <a:spcPts val="5175"/>
              </a:lnSpc>
            </a:pPr>
            <a:r>
              <a:rPr sz="4350" spc="-235" dirty="0">
                <a:solidFill>
                  <a:srgbClr val="FFFFFF"/>
                </a:solidFill>
                <a:latin typeface="Arial MT"/>
                <a:cs typeface="Arial MT"/>
              </a:rPr>
              <a:t>Counts</a:t>
            </a:r>
            <a:r>
              <a:rPr sz="4350" spc="-4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4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4350" spc="-4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15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4350" spc="-4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50" dirty="0">
                <a:solidFill>
                  <a:srgbClr val="FFFFFF"/>
                </a:solidFill>
                <a:latin typeface="Arial MT"/>
                <a:cs typeface="Arial MT"/>
              </a:rPr>
              <a:t>detected</a:t>
            </a:r>
            <a:r>
              <a:rPr sz="4350" spc="-45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75" dirty="0">
                <a:solidFill>
                  <a:srgbClr val="FFFFFF"/>
                </a:solidFill>
                <a:latin typeface="Arial MT"/>
                <a:cs typeface="Arial MT"/>
              </a:rPr>
              <a:t>persons.</a:t>
            </a:r>
            <a:endParaRPr sz="4350" dirty="0">
              <a:latin typeface="Arial MT"/>
              <a:cs typeface="Arial MT"/>
            </a:endParaRPr>
          </a:p>
          <a:p>
            <a:pPr marL="549910">
              <a:lnSpc>
                <a:spcPts val="5200"/>
              </a:lnSpc>
            </a:pPr>
            <a:r>
              <a:rPr sz="4350" spc="-280" dirty="0">
                <a:solidFill>
                  <a:srgbClr val="FFFFFF"/>
                </a:solidFill>
                <a:latin typeface="Arial MT"/>
                <a:cs typeface="Arial MT"/>
              </a:rPr>
              <a:t>Compares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4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75" dirty="0">
                <a:solidFill>
                  <a:srgbClr val="FFFFFF"/>
                </a:solidFill>
                <a:latin typeface="Arial MT"/>
                <a:cs typeface="Arial MT"/>
              </a:rPr>
              <a:t>expected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65" dirty="0">
                <a:solidFill>
                  <a:srgbClr val="FFFFFF"/>
                </a:solidFill>
                <a:latin typeface="Arial MT"/>
                <a:cs typeface="Arial MT"/>
              </a:rPr>
              <a:t>limits.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54" dirty="0">
                <a:solidFill>
                  <a:srgbClr val="FFFFFF"/>
                </a:solidFill>
                <a:latin typeface="Arial MT"/>
                <a:cs typeface="Arial MT"/>
              </a:rPr>
              <a:t>Flags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75" dirty="0">
                <a:solidFill>
                  <a:srgbClr val="FFFFFF"/>
                </a:solidFill>
                <a:latin typeface="Arial MT"/>
                <a:cs typeface="Arial MT"/>
              </a:rPr>
              <a:t>unusual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254" dirty="0">
                <a:solidFill>
                  <a:srgbClr val="FFFFFF"/>
                </a:solidFill>
                <a:latin typeface="Arial MT"/>
                <a:cs typeface="Arial MT"/>
              </a:rPr>
              <a:t>crowd</a:t>
            </a:r>
            <a:r>
              <a:rPr sz="4350" spc="-5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130" dirty="0">
                <a:solidFill>
                  <a:srgbClr val="FFFFFF"/>
                </a:solidFill>
                <a:latin typeface="Arial MT"/>
                <a:cs typeface="Arial MT"/>
              </a:rPr>
              <a:t>size.</a:t>
            </a:r>
            <a:endParaRPr sz="43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3517" y="695590"/>
            <a:ext cx="14400966" cy="1582484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940"/>
              </a:spcBef>
              <a:tabLst>
                <a:tab pos="3040380" algn="l"/>
                <a:tab pos="5311775" algn="l"/>
                <a:tab pos="6068695" algn="l"/>
              </a:tabLst>
            </a:pPr>
            <a:r>
              <a:rPr lang="en-US" dirty="0"/>
              <a:t>Context-Based Threat Scoring Engine &amp; Tiered Alert System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11071861" y="1106182"/>
            <a:ext cx="2571115" cy="8515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940"/>
              </a:spcBef>
            </a:pPr>
            <a:endParaRPr sz="54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6400" y="3013850"/>
            <a:ext cx="8764905" cy="7078669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Instead</a:t>
            </a:r>
            <a:r>
              <a:rPr sz="3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3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binary</a:t>
            </a:r>
            <a:r>
              <a:rPr sz="32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alerts:</a:t>
            </a:r>
            <a:endParaRPr sz="3250" dirty="0">
              <a:latin typeface="Microsoft Sans Serif"/>
              <a:cs typeface="Microsoft Sans Serif"/>
            </a:endParaRPr>
          </a:p>
          <a:p>
            <a:pPr marL="469900" indent="-457200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Dynamic</a:t>
            </a:r>
            <a:r>
              <a:rPr sz="325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score</a:t>
            </a:r>
            <a:r>
              <a:rPr sz="3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3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0–100.</a:t>
            </a:r>
            <a:endParaRPr lang="en-IN" sz="3250" spc="125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469900" indent="-457200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sz="3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Example</a:t>
            </a:r>
            <a:r>
              <a:rPr sz="3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scoring</a:t>
            </a:r>
            <a:r>
              <a:rPr lang="en-IN" sz="3250" dirty="0">
                <a:latin typeface="Microsoft Sans Serif"/>
                <a:cs typeface="Microsoft Sans Serif"/>
              </a:rPr>
              <a:t> </a:t>
            </a:r>
            <a:r>
              <a:rPr sz="3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logic:</a:t>
            </a:r>
            <a:endParaRPr sz="3250" dirty="0">
              <a:latin typeface="Microsoft Sans Serif"/>
              <a:cs typeface="Microsoft Sans Serif"/>
            </a:endParaRPr>
          </a:p>
          <a:p>
            <a:pPr marL="469900" marR="898525" indent="-457200" algn="just">
              <a:lnSpc>
                <a:spcPts val="5700"/>
              </a:lnSpc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Person</a:t>
            </a:r>
            <a:r>
              <a:rPr sz="3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detected</a:t>
            </a:r>
            <a:r>
              <a:rPr sz="32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2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+10</a:t>
            </a:r>
            <a:r>
              <a:rPr sz="32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lang="en-IN" sz="3250" spc="-20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469900" marR="898525" indent="-457200" algn="just">
              <a:lnSpc>
                <a:spcPts val="5700"/>
              </a:lnSpc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3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After-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hours</a:t>
            </a:r>
            <a:r>
              <a:rPr sz="3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2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+30 </a:t>
            </a:r>
            <a:endParaRPr lang="en-IN" sz="3250" spc="-25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469900" marR="898525" indent="-457200" algn="just">
              <a:lnSpc>
                <a:spcPts val="5700"/>
              </a:lnSpc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Restricted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zone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entry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+40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lang="en-IN" sz="3250" spc="-30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469900" marR="898525" indent="-457200" algn="just">
              <a:lnSpc>
                <a:spcPts val="5700"/>
              </a:lnSpc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activity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gradual</a:t>
            </a:r>
            <a:r>
              <a:rPr sz="325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decay</a:t>
            </a:r>
            <a:endParaRPr sz="3250" dirty="0">
              <a:latin typeface="Microsoft Sans Serif"/>
              <a:cs typeface="Microsoft Sans Serif"/>
            </a:endParaRPr>
          </a:p>
          <a:p>
            <a:pPr marL="469900" marR="5080" indent="-457200" algn="just">
              <a:lnSpc>
                <a:spcPts val="5700"/>
              </a:lnSpc>
              <a:buFont typeface="Arial" panose="020B0604020202020204" pitchFamily="34" charset="0"/>
              <a:buChar char="•"/>
            </a:pP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Score</a:t>
            </a:r>
            <a:r>
              <a:rPr sz="325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determines</a:t>
            </a:r>
            <a:r>
              <a:rPr sz="325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level.</a:t>
            </a:r>
            <a:r>
              <a:rPr sz="325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Score</a:t>
            </a:r>
            <a:r>
              <a:rPr sz="325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determines</a:t>
            </a:r>
            <a:r>
              <a:rPr sz="325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level. </a:t>
            </a:r>
            <a:endParaRPr lang="en-IN" sz="3250" spc="-10" dirty="0">
              <a:solidFill>
                <a:srgbClr val="FFFFFF"/>
              </a:solidFill>
              <a:latin typeface="Microsoft Sans Serif"/>
              <a:cs typeface="Microsoft Sans Serif"/>
            </a:endParaRPr>
          </a:p>
          <a:p>
            <a:pPr marL="469900" marR="5080" indent="-457200" algn="just">
              <a:lnSpc>
                <a:spcPts val="5700"/>
              </a:lnSpc>
              <a:buFont typeface="Arial" panose="020B0604020202020204" pitchFamily="34" charset="0"/>
              <a:buChar char="•"/>
            </a:pPr>
            <a:r>
              <a:rPr sz="3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Green-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safe,</a:t>
            </a:r>
            <a:r>
              <a:rPr sz="32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Yellow-</a:t>
            </a:r>
            <a:r>
              <a:rPr sz="3250" dirty="0">
                <a:solidFill>
                  <a:srgbClr val="FFFFFF"/>
                </a:solidFill>
                <a:latin typeface="Microsoft Sans Serif"/>
                <a:cs typeface="Microsoft Sans Serif"/>
              </a:rPr>
              <a:t>Suspicious,</a:t>
            </a:r>
            <a:r>
              <a:rPr sz="32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Red-</a:t>
            </a:r>
            <a:r>
              <a:rPr sz="3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Alert.</a:t>
            </a:r>
            <a:endParaRPr sz="32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026918" cy="10285735"/>
            <a:chOff x="0" y="0"/>
            <a:chExt cx="18026918" cy="102857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794" y="181451"/>
              <a:ext cx="17764124" cy="9925049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2780" cy="102857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13293" y="670288"/>
              <a:ext cx="8191500" cy="2190750"/>
            </a:xfrm>
            <a:custGeom>
              <a:avLst/>
              <a:gdLst/>
              <a:ahLst/>
              <a:cxnLst/>
              <a:rect l="l" t="t" r="r" b="b"/>
              <a:pathLst>
                <a:path w="8191500" h="2190750">
                  <a:moveTo>
                    <a:pt x="7800661" y="2190626"/>
                  </a:moveTo>
                  <a:lnTo>
                    <a:pt x="7800661" y="2190435"/>
                  </a:lnTo>
                  <a:lnTo>
                    <a:pt x="392267" y="2190435"/>
                  </a:lnTo>
                  <a:lnTo>
                    <a:pt x="343102" y="2187673"/>
                  </a:lnTo>
                  <a:lnTo>
                    <a:pt x="295748" y="2179386"/>
                  </a:lnTo>
                  <a:lnTo>
                    <a:pt x="250586" y="2165956"/>
                  </a:lnTo>
                  <a:lnTo>
                    <a:pt x="207996" y="2147764"/>
                  </a:lnTo>
                  <a:lnTo>
                    <a:pt x="168264" y="2125094"/>
                  </a:lnTo>
                  <a:lnTo>
                    <a:pt x="131867" y="2098329"/>
                  </a:lnTo>
                  <a:lnTo>
                    <a:pt x="99091" y="2067850"/>
                  </a:lnTo>
                  <a:lnTo>
                    <a:pt x="70411" y="2033941"/>
                  </a:lnTo>
                  <a:lnTo>
                    <a:pt x="46115" y="1996985"/>
                  </a:lnTo>
                  <a:lnTo>
                    <a:pt x="26583" y="1957266"/>
                  </a:lnTo>
                  <a:lnTo>
                    <a:pt x="12195" y="1915166"/>
                  </a:lnTo>
                  <a:lnTo>
                    <a:pt x="3239" y="1871066"/>
                  </a:lnTo>
                  <a:lnTo>
                    <a:pt x="0" y="1825442"/>
                  </a:lnTo>
                  <a:lnTo>
                    <a:pt x="0" y="365088"/>
                  </a:lnTo>
                  <a:lnTo>
                    <a:pt x="3048" y="319273"/>
                  </a:lnTo>
                  <a:lnTo>
                    <a:pt x="12005" y="275173"/>
                  </a:lnTo>
                  <a:lnTo>
                    <a:pt x="26392" y="233073"/>
                  </a:lnTo>
                  <a:lnTo>
                    <a:pt x="45924" y="193354"/>
                  </a:lnTo>
                  <a:lnTo>
                    <a:pt x="70221" y="156398"/>
                  </a:lnTo>
                  <a:lnTo>
                    <a:pt x="98900" y="122489"/>
                  </a:lnTo>
                  <a:lnTo>
                    <a:pt x="131676" y="92010"/>
                  </a:lnTo>
                  <a:lnTo>
                    <a:pt x="168073" y="65245"/>
                  </a:lnTo>
                  <a:lnTo>
                    <a:pt x="207805" y="42576"/>
                  </a:lnTo>
                  <a:lnTo>
                    <a:pt x="250395" y="24383"/>
                  </a:lnTo>
                  <a:lnTo>
                    <a:pt x="295558" y="10953"/>
                  </a:lnTo>
                  <a:lnTo>
                    <a:pt x="343007" y="2857"/>
                  </a:lnTo>
                  <a:lnTo>
                    <a:pt x="392267" y="0"/>
                  </a:lnTo>
                  <a:lnTo>
                    <a:pt x="7800661" y="0"/>
                  </a:lnTo>
                  <a:lnTo>
                    <a:pt x="7849825" y="2857"/>
                  </a:lnTo>
                  <a:lnTo>
                    <a:pt x="7897179" y="11144"/>
                  </a:lnTo>
                  <a:lnTo>
                    <a:pt x="7942342" y="24574"/>
                  </a:lnTo>
                  <a:lnTo>
                    <a:pt x="7984932" y="42766"/>
                  </a:lnTo>
                  <a:lnTo>
                    <a:pt x="8024663" y="65435"/>
                  </a:lnTo>
                  <a:lnTo>
                    <a:pt x="8061060" y="92200"/>
                  </a:lnTo>
                  <a:lnTo>
                    <a:pt x="8093836" y="122680"/>
                  </a:lnTo>
                  <a:lnTo>
                    <a:pt x="8122516" y="156588"/>
                  </a:lnTo>
                  <a:lnTo>
                    <a:pt x="8146812" y="193545"/>
                  </a:lnTo>
                  <a:lnTo>
                    <a:pt x="8166344" y="233264"/>
                  </a:lnTo>
                  <a:lnTo>
                    <a:pt x="8180732" y="275364"/>
                  </a:lnTo>
                  <a:lnTo>
                    <a:pt x="8189688" y="319464"/>
                  </a:lnTo>
                  <a:lnTo>
                    <a:pt x="8191022" y="339276"/>
                  </a:lnTo>
                  <a:lnTo>
                    <a:pt x="8191022" y="1851445"/>
                  </a:lnTo>
                  <a:lnTo>
                    <a:pt x="8180732" y="1915357"/>
                  </a:lnTo>
                  <a:lnTo>
                    <a:pt x="8166344" y="1957457"/>
                  </a:lnTo>
                  <a:lnTo>
                    <a:pt x="8146812" y="1997175"/>
                  </a:lnTo>
                  <a:lnTo>
                    <a:pt x="8122516" y="2034132"/>
                  </a:lnTo>
                  <a:lnTo>
                    <a:pt x="8093836" y="2068040"/>
                  </a:lnTo>
                  <a:lnTo>
                    <a:pt x="8061060" y="2098520"/>
                  </a:lnTo>
                  <a:lnTo>
                    <a:pt x="8024663" y="2125285"/>
                  </a:lnTo>
                  <a:lnTo>
                    <a:pt x="7984932" y="2147954"/>
                  </a:lnTo>
                  <a:lnTo>
                    <a:pt x="7942342" y="2166147"/>
                  </a:lnTo>
                  <a:lnTo>
                    <a:pt x="7897179" y="2179577"/>
                  </a:lnTo>
                  <a:lnTo>
                    <a:pt x="7849825" y="2187863"/>
                  </a:lnTo>
                  <a:lnTo>
                    <a:pt x="7800661" y="2190626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44317" y="994616"/>
            <a:ext cx="6503034" cy="157226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940"/>
              </a:spcBef>
            </a:pPr>
            <a:r>
              <a:rPr b="0" dirty="0">
                <a:latin typeface="Microsoft Sans Serif"/>
                <a:cs typeface="Microsoft Sans Serif"/>
              </a:rPr>
              <a:t>RESTRICTED</a:t>
            </a:r>
            <a:r>
              <a:rPr b="0" spc="65" dirty="0">
                <a:latin typeface="Microsoft Sans Serif"/>
                <a:cs typeface="Microsoft Sans Serif"/>
              </a:rPr>
              <a:t> </a:t>
            </a:r>
            <a:r>
              <a:rPr b="0" spc="-20" dirty="0">
                <a:latin typeface="Microsoft Sans Serif"/>
                <a:cs typeface="Microsoft Sans Serif"/>
              </a:rPr>
              <a:t>ZONE </a:t>
            </a:r>
            <a:r>
              <a:rPr b="0" spc="-10" dirty="0">
                <a:latin typeface="Microsoft Sans Serif"/>
                <a:cs typeface="Microsoft Sans Serif"/>
              </a:rPr>
              <a:t>MONITORING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711108" y="4482956"/>
            <a:ext cx="133350" cy="1676400"/>
            <a:chOff x="9711108" y="4482956"/>
            <a:chExt cx="133350" cy="16764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1108" y="4482956"/>
              <a:ext cx="133349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1108" y="4997306"/>
              <a:ext cx="133349" cy="1333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1108" y="5511656"/>
              <a:ext cx="133349" cy="133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11108" y="6026006"/>
              <a:ext cx="133349" cy="1333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603158" y="3127861"/>
            <a:ext cx="8148955" cy="492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0">
              <a:lnSpc>
                <a:spcPct val="106600"/>
              </a:lnSpc>
              <a:spcBef>
                <a:spcPts val="100"/>
              </a:spcBef>
            </a:pPr>
            <a:r>
              <a:rPr sz="3400" spc="-254" dirty="0">
                <a:solidFill>
                  <a:srgbClr val="FFFFFF"/>
                </a:solidFill>
                <a:latin typeface="Arial MT"/>
                <a:cs typeface="Arial MT"/>
              </a:rPr>
              <a:t>Define</a:t>
            </a:r>
            <a:r>
              <a:rPr sz="3400" spc="-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75" dirty="0">
                <a:solidFill>
                  <a:srgbClr val="FFFFFF"/>
                </a:solidFill>
                <a:latin typeface="Arial MT"/>
                <a:cs typeface="Arial MT"/>
              </a:rPr>
              <a:t>sensitive</a:t>
            </a:r>
            <a:r>
              <a:rPr sz="34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54" dirty="0">
                <a:solidFill>
                  <a:srgbClr val="FFFFFF"/>
                </a:solidFill>
                <a:latin typeface="Arial MT"/>
                <a:cs typeface="Arial MT"/>
              </a:rPr>
              <a:t>region</a:t>
            </a:r>
            <a:r>
              <a:rPr sz="34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1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4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60" dirty="0">
                <a:solidFill>
                  <a:srgbClr val="FFFFFF"/>
                </a:solidFill>
                <a:latin typeface="Arial MT"/>
                <a:cs typeface="Arial MT"/>
              </a:rPr>
              <a:t>camera</a:t>
            </a:r>
            <a:r>
              <a:rPr sz="34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75" dirty="0">
                <a:solidFill>
                  <a:srgbClr val="FFFFFF"/>
                </a:solidFill>
                <a:latin typeface="Arial MT"/>
                <a:cs typeface="Arial MT"/>
              </a:rPr>
              <a:t>frame. </a:t>
            </a:r>
            <a:r>
              <a:rPr sz="3400" spc="-285" dirty="0">
                <a:solidFill>
                  <a:srgbClr val="FFFFFF"/>
                </a:solidFill>
                <a:latin typeface="Arial MT"/>
                <a:cs typeface="Arial MT"/>
              </a:rPr>
              <a:t>Examples:</a:t>
            </a:r>
            <a:endParaRPr sz="3400" dirty="0">
              <a:latin typeface="Arial MT"/>
              <a:cs typeface="Arial MT"/>
            </a:endParaRPr>
          </a:p>
          <a:p>
            <a:pPr marL="434975">
              <a:lnSpc>
                <a:spcPts val="4035"/>
              </a:lnSpc>
            </a:pPr>
            <a:r>
              <a:rPr sz="3400" spc="-95" dirty="0">
                <a:solidFill>
                  <a:srgbClr val="FFFFFF"/>
                </a:solidFill>
                <a:latin typeface="Arial MT"/>
                <a:cs typeface="Arial MT"/>
              </a:rPr>
              <a:t>Locker</a:t>
            </a:r>
            <a:endParaRPr sz="3400" dirty="0">
              <a:latin typeface="Arial MT"/>
              <a:cs typeface="Arial MT"/>
            </a:endParaRPr>
          </a:p>
          <a:p>
            <a:pPr marL="434975" marR="5076190" algn="just">
              <a:lnSpc>
                <a:spcPts val="4050"/>
              </a:lnSpc>
              <a:spcBef>
                <a:spcPts val="145"/>
              </a:spcBef>
            </a:pP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Cash</a:t>
            </a:r>
            <a:r>
              <a:rPr sz="34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30" dirty="0">
                <a:solidFill>
                  <a:srgbClr val="FFFFFF"/>
                </a:solidFill>
                <a:latin typeface="Arial MT"/>
                <a:cs typeface="Arial MT"/>
              </a:rPr>
              <a:t>Counter </a:t>
            </a:r>
            <a:r>
              <a:rPr sz="3400" spc="-229" dirty="0">
                <a:solidFill>
                  <a:srgbClr val="FFFFFF"/>
                </a:solidFill>
                <a:latin typeface="Arial MT"/>
                <a:cs typeface="Arial MT"/>
              </a:rPr>
              <a:t>Bedroom</a:t>
            </a:r>
            <a:r>
              <a:rPr sz="3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Door </a:t>
            </a:r>
            <a:r>
              <a:rPr sz="3400" spc="-90" dirty="0">
                <a:solidFill>
                  <a:srgbClr val="FFFFFF"/>
                </a:solidFill>
                <a:latin typeface="Arial MT"/>
                <a:cs typeface="Arial MT"/>
              </a:rPr>
              <a:t>Main</a:t>
            </a:r>
            <a:r>
              <a:rPr sz="34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90" dirty="0">
                <a:solidFill>
                  <a:srgbClr val="FFFFFF"/>
                </a:solidFill>
                <a:latin typeface="Arial MT"/>
                <a:cs typeface="Arial MT"/>
              </a:rPr>
              <a:t>Entrance</a:t>
            </a:r>
            <a:endParaRPr sz="3400" dirty="0">
              <a:latin typeface="Arial MT"/>
              <a:cs typeface="Arial MT"/>
            </a:endParaRPr>
          </a:p>
          <a:p>
            <a:pPr marL="434975" algn="just">
              <a:lnSpc>
                <a:spcPct val="100000"/>
              </a:lnSpc>
              <a:spcBef>
                <a:spcPts val="140"/>
              </a:spcBef>
            </a:pP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3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person</a:t>
            </a:r>
            <a:r>
              <a:rPr sz="3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enters</a:t>
            </a:r>
            <a:r>
              <a:rPr sz="3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defined</a:t>
            </a:r>
            <a:r>
              <a:rPr sz="3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zone,</a:t>
            </a:r>
            <a:r>
              <a:rPr sz="3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endParaRPr sz="3400" dirty="0">
              <a:latin typeface="Arial MT"/>
              <a:cs typeface="Arial MT"/>
            </a:endParaRPr>
          </a:p>
          <a:p>
            <a:pPr marL="434975" marR="5080" algn="just">
              <a:lnSpc>
                <a:spcPts val="4650"/>
              </a:lnSpc>
              <a:spcBef>
                <a:spcPts val="100"/>
              </a:spcBef>
            </a:pP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3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detects</a:t>
            </a:r>
            <a:r>
              <a:rPr sz="3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intrusion</a:t>
            </a:r>
            <a:r>
              <a:rPr sz="3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triggers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3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alert.</a:t>
            </a:r>
            <a:endParaRPr sz="3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2632" y="0"/>
            <a:ext cx="18024475" cy="10285730"/>
            <a:chOff x="262632" y="0"/>
            <a:chExt cx="18024475" cy="1028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632" y="255432"/>
              <a:ext cx="17764124" cy="9925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9" y="0"/>
              <a:ext cx="9142770" cy="102857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25" dirty="0">
                <a:latin typeface="Calibri"/>
                <a:cs typeface="Calibri"/>
              </a:rPr>
              <a:t>01</a:t>
            </a:r>
            <a:endParaRPr sz="10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8600" y="2674984"/>
            <a:ext cx="6911340" cy="3663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9530"/>
              </a:lnSpc>
              <a:spcBef>
                <a:spcPts val="275"/>
              </a:spcBef>
            </a:pPr>
            <a:r>
              <a:rPr sz="8000" b="1" dirty="0">
                <a:solidFill>
                  <a:srgbClr val="FFFFFF"/>
                </a:solidFill>
                <a:latin typeface="Arial"/>
                <a:cs typeface="Arial"/>
              </a:rPr>
              <a:t>Benefits</a:t>
            </a:r>
            <a:r>
              <a:rPr sz="8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8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spc="-25" dirty="0">
                <a:solidFill>
                  <a:srgbClr val="FFFFFF"/>
                </a:solidFill>
                <a:latin typeface="Arial"/>
                <a:cs typeface="Arial"/>
              </a:rPr>
              <a:t>AI- </a:t>
            </a:r>
            <a:r>
              <a:rPr sz="8000" b="1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8000" b="1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spc="-10" dirty="0">
                <a:solidFill>
                  <a:srgbClr val="FFFFFF"/>
                </a:solidFill>
                <a:latin typeface="Arial"/>
                <a:cs typeface="Arial"/>
              </a:rPr>
              <a:t>Smart </a:t>
            </a:r>
            <a:r>
              <a:rPr sz="8000" b="1" spc="-20" dirty="0">
                <a:solidFill>
                  <a:srgbClr val="FFFFFF"/>
                </a:solidFill>
                <a:latin typeface="Arial"/>
                <a:cs typeface="Arial"/>
              </a:rPr>
              <a:t>CCTV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2770" cy="102857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689" y="1861913"/>
            <a:ext cx="7344409" cy="562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Reduces</a:t>
            </a:r>
            <a:r>
              <a:rPr sz="3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false</a:t>
            </a:r>
            <a:r>
              <a:rPr sz="3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motion</a:t>
            </a:r>
            <a:r>
              <a:rPr sz="3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alerts</a:t>
            </a:r>
            <a:r>
              <a:rPr sz="3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Detects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only</a:t>
            </a:r>
            <a:r>
              <a:rPr sz="3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human</a:t>
            </a:r>
            <a:r>
              <a:rPr sz="3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activity</a:t>
            </a:r>
            <a:r>
              <a:rPr sz="3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Context-</a:t>
            </a:r>
            <a:r>
              <a:rPr sz="3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aware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security</a:t>
            </a:r>
            <a:r>
              <a:rPr sz="36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monitoring</a:t>
            </a:r>
            <a:r>
              <a:rPr sz="36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Identifies</a:t>
            </a:r>
            <a:r>
              <a:rPr sz="36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night-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36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intrusions</a:t>
            </a:r>
            <a:r>
              <a:rPr sz="36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Monitors</a:t>
            </a:r>
            <a:r>
              <a:rPr sz="36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crowd</a:t>
            </a:r>
            <a:r>
              <a:rPr sz="36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size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automatically</a:t>
            </a:r>
            <a:r>
              <a:rPr sz="36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Detects</a:t>
            </a:r>
            <a:r>
              <a:rPr sz="36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suspicious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behavior</a:t>
            </a:r>
            <a:r>
              <a:rPr sz="36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(loitering)</a:t>
            </a:r>
            <a:r>
              <a:rPr sz="36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Identifies </a:t>
            </a:r>
            <a:r>
              <a:rPr sz="3600" dirty="0">
                <a:solidFill>
                  <a:srgbClr val="FFFFFF"/>
                </a:solidFill>
                <a:latin typeface="Microsoft Sans Serif"/>
                <a:cs typeface="Microsoft Sans Serif"/>
              </a:rPr>
              <a:t>abandoned</a:t>
            </a:r>
            <a:r>
              <a:rPr sz="36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objects</a:t>
            </a: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2770" cy="102857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7717" y="1586471"/>
            <a:ext cx="8553450" cy="59302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50"/>
              </a:spcBef>
            </a:pP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Provides</a:t>
            </a:r>
            <a:r>
              <a:rPr sz="3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real-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3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threat</a:t>
            </a:r>
            <a:r>
              <a:rPr sz="3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scoring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Prioritized</a:t>
            </a:r>
            <a:r>
              <a:rPr sz="3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</a:t>
            </a:r>
            <a:r>
              <a:rPr sz="3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sz="3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(Safe</a:t>
            </a:r>
            <a:r>
              <a:rPr sz="3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/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Suspicious</a:t>
            </a:r>
            <a:r>
              <a:rPr sz="3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3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Critical)</a:t>
            </a:r>
            <a:r>
              <a:rPr sz="3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Captures</a:t>
            </a:r>
            <a:r>
              <a:rPr sz="3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evidence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snapshots</a:t>
            </a:r>
            <a:r>
              <a:rPr sz="3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automatically</a:t>
            </a:r>
            <a:r>
              <a:rPr sz="3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Enables</a:t>
            </a:r>
            <a:r>
              <a:rPr sz="3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real-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3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monitoring</a:t>
            </a:r>
            <a:r>
              <a:rPr sz="3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dashboard</a:t>
            </a:r>
            <a:r>
              <a:rPr sz="3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Reduces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manual</a:t>
            </a:r>
            <a:r>
              <a:rPr sz="3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surveillance</a:t>
            </a:r>
            <a:r>
              <a:rPr sz="3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effort</a:t>
            </a:r>
            <a:r>
              <a:rPr sz="3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Improves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overall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security</a:t>
            </a:r>
            <a:r>
              <a:rPr sz="3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endParaRPr sz="3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29" y="191928"/>
            <a:ext cx="17887910" cy="100488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303" y="514537"/>
            <a:ext cx="84499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73913" y="1790381"/>
            <a:ext cx="7351395" cy="7600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84455" algn="ctr">
              <a:lnSpc>
                <a:spcPct val="100000"/>
              </a:lnSpc>
              <a:spcBef>
                <a:spcPts val="125"/>
              </a:spcBef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Camera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20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marR="84455" algn="ctr">
              <a:lnSpc>
                <a:spcPct val="100000"/>
              </a:lnSpc>
              <a:spcBef>
                <a:spcPts val="2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OpenCV</a:t>
            </a:r>
            <a:r>
              <a:rPr sz="26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captures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frames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15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YOLO11s</a:t>
            </a:r>
            <a:r>
              <a:rPr sz="2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detects</a:t>
            </a:r>
            <a:r>
              <a:rPr sz="2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persons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20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ByteTrack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tracks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person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15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Motion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running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panic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abandoned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20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mode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zone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count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20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Threat Score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0–100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20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Safe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/ Suspicious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/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20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FastAPI</a:t>
            </a:r>
            <a:r>
              <a:rPr sz="2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WebSocket</a:t>
            </a:r>
            <a:endParaRPr sz="2600">
              <a:latin typeface="Arial"/>
              <a:cs typeface="Arial"/>
            </a:endParaRPr>
          </a:p>
          <a:p>
            <a:pPr marL="276225" algn="ctr">
              <a:lnSpc>
                <a:spcPct val="100000"/>
              </a:lnSpc>
              <a:spcBef>
                <a:spcPts val="15"/>
              </a:spcBef>
            </a:pP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  <a:tabLst>
                <a:tab pos="2964815" algn="l"/>
              </a:tabLst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Live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MongoDB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B060D-7881-4AC4-6964-D892FC82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AC84B05-7698-2829-5ED0-03587B9E04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29" y="191928"/>
            <a:ext cx="17887910" cy="100488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C19597B-9880-1BA5-380B-F819F8F9A6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236372"/>
            <a:ext cx="1553209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latin typeface="Arial MT"/>
              </a:rPr>
              <a:t>AI Smart CCTV System – Working Process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C245C78-8B70-4320-7B34-A7B32C684546}"/>
              </a:ext>
            </a:extLst>
          </p:cNvPr>
          <p:cNvSpPr txBox="1"/>
          <p:nvPr/>
        </p:nvSpPr>
        <p:spPr>
          <a:xfrm>
            <a:off x="1219200" y="1390151"/>
            <a:ext cx="15087600" cy="85234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Video Capture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CCTV / Webcam / IP Camera captures live video and sends it to the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Frame Processing (OpenCV)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Video is converted into frames so the AI model can analyze each image.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Person Detection (YOLO)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The AI model detects only people and ignores irrelevant motion like shadows or animals.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Person Tracking (</a:t>
            </a:r>
            <a:r>
              <a:rPr lang="en-US" sz="2400" b="1" dirty="0" err="1">
                <a:solidFill>
                  <a:schemeClr val="bg1"/>
                </a:solidFill>
                <a:latin typeface="Arial MT"/>
              </a:rPr>
              <a:t>ByteTrack</a:t>
            </a:r>
            <a:r>
              <a:rPr lang="en-US" sz="2400" b="1" dirty="0">
                <a:solidFill>
                  <a:schemeClr val="bg1"/>
                </a:solidFill>
                <a:latin typeface="Arial MT"/>
              </a:rPr>
              <a:t>)</a:t>
            </a:r>
            <a:br>
              <a:rPr lang="en-US" sz="2400" b="1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Each detected person is given a unique ID and tracked across frames.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Context Analysis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The system checks important factors: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• Time of day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• Property type (Home / Shop / Office)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• Number of people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• Restricted zone entry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MT"/>
              </a:rPr>
              <a:t>Threat Scoring Engine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All information is used to calculate a risk score from 0–100.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Alert Decision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The system classifies activity as: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🟢 Safe | 🟡 Suspicious | 🔴 Critical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Arial MT"/>
              </a:rPr>
              <a:t>Real-Time Dashboard &amp; Alerts</a:t>
            </a:r>
            <a:br>
              <a:rPr lang="en-US" sz="2400" dirty="0">
                <a:solidFill>
                  <a:schemeClr val="bg1"/>
                </a:solidFill>
                <a:latin typeface="Arial MT"/>
              </a:rPr>
            </a:br>
            <a:r>
              <a:rPr lang="en-US" sz="2400" dirty="0">
                <a:solidFill>
                  <a:schemeClr val="bg1"/>
                </a:solidFill>
                <a:latin typeface="Arial MT"/>
              </a:rPr>
              <a:t>Live video, threat score, and alerts are shown on the dashboard, and the owner receives notifications if a critical threat occurs.</a:t>
            </a:r>
          </a:p>
          <a:p>
            <a:pPr marL="457200" marR="84455" indent="-457200" algn="ctr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endParaRPr sz="2400" dirty="0">
              <a:solidFill>
                <a:schemeClr val="bg1"/>
              </a:solidFill>
              <a:latin typeface="Arial M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5279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49" y="2938014"/>
            <a:ext cx="17964147" cy="72373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7935" algn="l"/>
                <a:tab pos="6826250" algn="l"/>
                <a:tab pos="8340090" algn="l"/>
              </a:tabLst>
            </a:pPr>
            <a:r>
              <a:rPr spc="-10" dirty="0"/>
              <a:t>Enhanced</a:t>
            </a:r>
            <a:r>
              <a:rPr dirty="0"/>
              <a:t>	</a:t>
            </a:r>
            <a:r>
              <a:rPr spc="-10" dirty="0"/>
              <a:t>security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30" dirty="0"/>
              <a:t>operational</a:t>
            </a:r>
            <a:r>
              <a:rPr spc="-620" dirty="0"/>
              <a:t> </a:t>
            </a:r>
            <a:r>
              <a:rPr spc="-10" dirty="0"/>
              <a:t>efficiency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56359" y="3002758"/>
            <a:ext cx="14559915" cy="493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3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4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integrating</a:t>
            </a:r>
            <a:r>
              <a:rPr sz="4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AI,</a:t>
            </a:r>
            <a:r>
              <a:rPr sz="4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sz="4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CCTV</a:t>
            </a:r>
            <a:r>
              <a:rPr sz="4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systems</a:t>
            </a:r>
            <a:r>
              <a:rPr sz="4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optimize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surveillance</a:t>
            </a:r>
            <a:r>
              <a:rPr sz="44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processes,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lowering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workload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44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costs.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They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provide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actionable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insights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real-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analysis,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enabling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more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informed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decisions</a:t>
            </a:r>
            <a:r>
              <a:rPr sz="4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stronger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security management.</a:t>
            </a:r>
            <a:endParaRPr sz="4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3849" y="2938014"/>
            <a:ext cx="17964150" cy="7237730"/>
            <a:chOff x="163849" y="2938014"/>
            <a:chExt cx="17964150" cy="7237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849" y="2938014"/>
              <a:ext cx="17964147" cy="72373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524" y="3707825"/>
              <a:ext cx="123825" cy="1238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5820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170" dirty="0"/>
              <a:t> </a:t>
            </a:r>
            <a:r>
              <a:rPr dirty="0"/>
              <a:t>Deployment</a:t>
            </a:r>
            <a:r>
              <a:rPr spc="-165" dirty="0"/>
              <a:t> </a:t>
            </a:r>
            <a:r>
              <a:rPr spc="-10" dirty="0"/>
              <a:t>Models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4349" y="3260785"/>
            <a:ext cx="14131925" cy="141605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692150">
              <a:lnSpc>
                <a:spcPct val="100000"/>
              </a:lnSpc>
              <a:spcBef>
                <a:spcPts val="1795"/>
              </a:spcBef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Self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Hosted</a:t>
            </a:r>
            <a:endParaRPr sz="3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  <a:tabLst>
                <a:tab pos="8872220" algn="l"/>
              </a:tabLst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Customer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has</a:t>
            </a:r>
            <a:r>
              <a:rPr sz="315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PC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installs</a:t>
            </a:r>
            <a:r>
              <a:rPr sz="315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our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software</a:t>
            </a:r>
            <a:r>
              <a:rPr lang="en-IN"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works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offline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full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privacy</a:t>
            </a:r>
            <a:endParaRPr sz="315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524" y="6489125"/>
            <a:ext cx="123825" cy="1238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4349" y="6042085"/>
            <a:ext cx="14700885" cy="141605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1795"/>
              </a:spcBef>
            </a:pP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Subscription</a:t>
            </a:r>
            <a:endParaRPr sz="3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Customer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has</a:t>
            </a:r>
            <a:r>
              <a:rPr sz="315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camera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only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15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we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run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315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cloud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15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works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phone</a:t>
            </a:r>
            <a:r>
              <a:rPr sz="315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315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setup</a:t>
            </a:r>
            <a:endParaRPr sz="3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49" y="2938014"/>
            <a:ext cx="17964147" cy="72373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5820">
              <a:lnSpc>
                <a:spcPct val="100000"/>
              </a:lnSpc>
              <a:spcBef>
                <a:spcPts val="100"/>
              </a:spcBef>
            </a:pPr>
            <a:r>
              <a:rPr dirty="0"/>
              <a:t>Hardware</a:t>
            </a:r>
            <a:r>
              <a:rPr spc="-1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5299" y="3260744"/>
            <a:ext cx="16390619" cy="141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800"/>
              </a:lnSpc>
              <a:spcBef>
                <a:spcPts val="100"/>
              </a:spcBef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Self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Hosted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personal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computer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runs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full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wifi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all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send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frontend.</a:t>
            </a:r>
            <a:endParaRPr sz="31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959" y="6709313"/>
            <a:ext cx="16836390" cy="141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800"/>
              </a:lnSpc>
              <a:spcBef>
                <a:spcPts val="100"/>
              </a:spcBef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Subscription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runs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our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servers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cameras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feed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sent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315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run</a:t>
            </a:r>
            <a:r>
              <a:rPr sz="315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returns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frontend.</a:t>
            </a:r>
            <a:endParaRPr sz="3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3849" y="2938014"/>
            <a:ext cx="17964150" cy="7237730"/>
            <a:chOff x="163849" y="2938014"/>
            <a:chExt cx="17964150" cy="7237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849" y="2938014"/>
              <a:ext cx="17964147" cy="72373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210" y="3829710"/>
              <a:ext cx="123825" cy="123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210" y="4525035"/>
              <a:ext cx="123825" cy="1238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210" y="5220360"/>
              <a:ext cx="123825" cy="123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210" y="5915685"/>
              <a:ext cx="123825" cy="123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210" y="6611010"/>
              <a:ext cx="123825" cy="1238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4822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155" dirty="0"/>
              <a:t> </a:t>
            </a:r>
            <a:r>
              <a:rPr spc="-10" dirty="0"/>
              <a:t>Stack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15" rIns="0" bIns="0" rtlCol="0">
            <a:spAutoFit/>
          </a:bodyPr>
          <a:lstStyle/>
          <a:p>
            <a:pPr marL="692150">
              <a:lnSpc>
                <a:spcPct val="100000"/>
              </a:lnSpc>
              <a:spcBef>
                <a:spcPts val="1795"/>
              </a:spcBef>
            </a:pPr>
            <a:r>
              <a:rPr dirty="0"/>
              <a:t>AI</a:t>
            </a:r>
            <a:r>
              <a:rPr spc="35" dirty="0"/>
              <a:t> </a:t>
            </a:r>
            <a:r>
              <a:rPr spc="-10" dirty="0"/>
              <a:t>Engine</a:t>
            </a:r>
          </a:p>
          <a:p>
            <a:pPr marL="692150" marR="4274185">
              <a:lnSpc>
                <a:spcPct val="144800"/>
              </a:lnSpc>
            </a:pPr>
            <a:r>
              <a:rPr dirty="0"/>
              <a:t>Python</a:t>
            </a:r>
            <a:r>
              <a:rPr spc="35" dirty="0"/>
              <a:t> </a:t>
            </a:r>
            <a:r>
              <a:rPr spc="165" dirty="0"/>
              <a:t>·</a:t>
            </a:r>
            <a:r>
              <a:rPr spc="35" dirty="0"/>
              <a:t> </a:t>
            </a:r>
            <a:r>
              <a:rPr dirty="0"/>
              <a:t>YOLO11s</a:t>
            </a:r>
            <a:r>
              <a:rPr spc="35" dirty="0"/>
              <a:t> </a:t>
            </a:r>
            <a:r>
              <a:rPr spc="165" dirty="0"/>
              <a:t>·</a:t>
            </a:r>
            <a:r>
              <a:rPr spc="35" dirty="0"/>
              <a:t> </a:t>
            </a:r>
            <a:r>
              <a:rPr dirty="0"/>
              <a:t>ByteTrack</a:t>
            </a:r>
            <a:r>
              <a:rPr spc="35" dirty="0"/>
              <a:t> </a:t>
            </a:r>
            <a:r>
              <a:rPr spc="165" dirty="0"/>
              <a:t>·</a:t>
            </a:r>
            <a:r>
              <a:rPr spc="35" dirty="0"/>
              <a:t> </a:t>
            </a:r>
            <a:r>
              <a:rPr dirty="0"/>
              <a:t>OpenCV</a:t>
            </a:r>
            <a:r>
              <a:rPr spc="35" dirty="0"/>
              <a:t> </a:t>
            </a:r>
            <a:r>
              <a:rPr spc="165" dirty="0"/>
              <a:t>·</a:t>
            </a:r>
            <a:r>
              <a:rPr spc="35" dirty="0"/>
              <a:t> </a:t>
            </a:r>
            <a:r>
              <a:rPr dirty="0"/>
              <a:t>FastAPI</a:t>
            </a:r>
            <a:r>
              <a:rPr spc="40" dirty="0"/>
              <a:t> </a:t>
            </a:r>
            <a:r>
              <a:rPr spc="165" dirty="0"/>
              <a:t>·</a:t>
            </a:r>
            <a:r>
              <a:rPr spc="35" dirty="0"/>
              <a:t> </a:t>
            </a:r>
            <a:r>
              <a:rPr dirty="0"/>
              <a:t>PyTorch</a:t>
            </a:r>
            <a:r>
              <a:rPr spc="35" dirty="0"/>
              <a:t> </a:t>
            </a:r>
            <a:r>
              <a:rPr spc="-20" dirty="0"/>
              <a:t>CUDA </a:t>
            </a:r>
            <a:r>
              <a:rPr spc="-10" dirty="0"/>
              <a:t>Dashboard</a:t>
            </a:r>
          </a:p>
          <a:p>
            <a:pPr marL="692150" marR="7475855">
              <a:lnSpc>
                <a:spcPct val="144800"/>
              </a:lnSpc>
            </a:pPr>
            <a:r>
              <a:rPr dirty="0"/>
              <a:t>Next.js</a:t>
            </a:r>
            <a:r>
              <a:rPr spc="10" dirty="0"/>
              <a:t> </a:t>
            </a:r>
            <a:r>
              <a:rPr spc="165" dirty="0"/>
              <a:t>·</a:t>
            </a:r>
            <a:r>
              <a:rPr spc="10" dirty="0"/>
              <a:t> </a:t>
            </a:r>
            <a:r>
              <a:rPr dirty="0"/>
              <a:t>Tailwind</a:t>
            </a:r>
            <a:r>
              <a:rPr spc="10" dirty="0"/>
              <a:t> </a:t>
            </a:r>
            <a:r>
              <a:rPr spc="165" dirty="0"/>
              <a:t>·</a:t>
            </a:r>
            <a:r>
              <a:rPr spc="10" dirty="0"/>
              <a:t> </a:t>
            </a:r>
            <a:r>
              <a:rPr dirty="0"/>
              <a:t>WebSocket</a:t>
            </a:r>
            <a:r>
              <a:rPr spc="15" dirty="0"/>
              <a:t> </a:t>
            </a:r>
            <a:r>
              <a:rPr spc="165" dirty="0"/>
              <a:t>·</a:t>
            </a:r>
            <a:r>
              <a:rPr spc="10" dirty="0"/>
              <a:t> </a:t>
            </a:r>
            <a:r>
              <a:rPr dirty="0"/>
              <a:t>MongoDB</a:t>
            </a:r>
            <a:r>
              <a:rPr spc="10" dirty="0"/>
              <a:t> </a:t>
            </a:r>
            <a:r>
              <a:rPr spc="165" dirty="0"/>
              <a:t>·</a:t>
            </a:r>
            <a:r>
              <a:rPr spc="10" dirty="0"/>
              <a:t> </a:t>
            </a:r>
            <a:r>
              <a:rPr spc="-10" dirty="0"/>
              <a:t>Vercel </a:t>
            </a:r>
            <a:r>
              <a:rPr dirty="0"/>
              <a:t>Why</a:t>
            </a:r>
            <a:r>
              <a:rPr spc="35" dirty="0"/>
              <a:t> </a:t>
            </a:r>
            <a:r>
              <a:rPr dirty="0"/>
              <a:t>these</a:t>
            </a:r>
            <a:r>
              <a:rPr spc="35" dirty="0"/>
              <a:t> </a:t>
            </a:r>
            <a:r>
              <a:rPr spc="-10" dirty="0"/>
              <a:t>tools</a:t>
            </a:r>
          </a:p>
          <a:p>
            <a:pPr marL="12700" marR="5080">
              <a:lnSpc>
                <a:spcPct val="144800"/>
              </a:lnSpc>
              <a:spcBef>
                <a:spcPts val="5"/>
              </a:spcBef>
            </a:pPr>
            <a:r>
              <a:rPr dirty="0"/>
              <a:t>YOLO11s</a:t>
            </a:r>
            <a:r>
              <a:rPr spc="20" dirty="0"/>
              <a:t> </a:t>
            </a:r>
            <a:r>
              <a:rPr dirty="0"/>
              <a:t>=</a:t>
            </a:r>
            <a:r>
              <a:rPr spc="15" dirty="0"/>
              <a:t> </a:t>
            </a:r>
            <a:r>
              <a:rPr dirty="0"/>
              <a:t>fastest</a:t>
            </a:r>
            <a:r>
              <a:rPr spc="20" dirty="0"/>
              <a:t> </a:t>
            </a:r>
            <a:r>
              <a:rPr dirty="0"/>
              <a:t>accurate</a:t>
            </a:r>
            <a:r>
              <a:rPr spc="15" dirty="0"/>
              <a:t> </a:t>
            </a:r>
            <a:r>
              <a:rPr dirty="0"/>
              <a:t>detector</a:t>
            </a:r>
            <a:r>
              <a:rPr spc="15" dirty="0"/>
              <a:t> </a:t>
            </a:r>
            <a:r>
              <a:rPr spc="165" dirty="0"/>
              <a:t>·</a:t>
            </a:r>
            <a:r>
              <a:rPr spc="20" dirty="0"/>
              <a:t> </a:t>
            </a:r>
            <a:r>
              <a:rPr dirty="0"/>
              <a:t>FastAPI</a:t>
            </a:r>
            <a:r>
              <a:rPr spc="20" dirty="0"/>
              <a:t> </a:t>
            </a:r>
            <a:r>
              <a:rPr dirty="0"/>
              <a:t>=</a:t>
            </a:r>
            <a:r>
              <a:rPr spc="20" dirty="0"/>
              <a:t> </a:t>
            </a:r>
            <a:r>
              <a:rPr dirty="0"/>
              <a:t>native</a:t>
            </a:r>
            <a:r>
              <a:rPr spc="15" dirty="0"/>
              <a:t> </a:t>
            </a:r>
            <a:r>
              <a:rPr dirty="0"/>
              <a:t>WebSocket</a:t>
            </a:r>
            <a:r>
              <a:rPr spc="15" dirty="0"/>
              <a:t> </a:t>
            </a:r>
            <a:r>
              <a:rPr spc="165" dirty="0"/>
              <a:t>·</a:t>
            </a:r>
            <a:r>
              <a:rPr spc="20" dirty="0"/>
              <a:t> </a:t>
            </a:r>
            <a:r>
              <a:rPr dirty="0"/>
              <a:t>MongoDB</a:t>
            </a:r>
            <a:r>
              <a:rPr spc="20" dirty="0"/>
              <a:t> </a:t>
            </a:r>
            <a:r>
              <a:rPr dirty="0"/>
              <a:t>=</a:t>
            </a:r>
            <a:r>
              <a:rPr spc="15" dirty="0"/>
              <a:t> </a:t>
            </a:r>
            <a:r>
              <a:rPr dirty="0"/>
              <a:t>flexible</a:t>
            </a:r>
            <a:r>
              <a:rPr spc="20" dirty="0"/>
              <a:t> </a:t>
            </a:r>
            <a:r>
              <a:rPr dirty="0"/>
              <a:t>alerts</a:t>
            </a:r>
            <a:r>
              <a:rPr spc="15" dirty="0"/>
              <a:t> </a:t>
            </a:r>
            <a:r>
              <a:rPr spc="114" dirty="0"/>
              <a:t>· </a:t>
            </a:r>
            <a:r>
              <a:rPr dirty="0"/>
              <a:t>Next.js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instant</a:t>
            </a:r>
            <a:r>
              <a:rPr spc="-15" dirty="0"/>
              <a:t> </a:t>
            </a:r>
            <a:r>
              <a:rPr dirty="0"/>
              <a:t>deployment</a:t>
            </a:r>
            <a:r>
              <a:rPr spc="-10" dirty="0"/>
              <a:t> </a:t>
            </a:r>
            <a:r>
              <a:rPr spc="165" dirty="0"/>
              <a:t>·</a:t>
            </a:r>
            <a:r>
              <a:rPr spc="-15" dirty="0"/>
              <a:t> </a:t>
            </a:r>
            <a:r>
              <a:rPr dirty="0"/>
              <a:t>WebSocket</a:t>
            </a:r>
            <a:r>
              <a:rPr spc="-10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dirty="0"/>
              <a:t>zero</a:t>
            </a:r>
            <a:r>
              <a:rPr spc="-10" dirty="0"/>
              <a:t> </a:t>
            </a:r>
            <a:r>
              <a:rPr dirty="0"/>
              <a:t>delay</a:t>
            </a:r>
            <a:r>
              <a:rPr spc="-15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74" y="229533"/>
            <a:ext cx="17945099" cy="2514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49" y="2938014"/>
            <a:ext cx="17964147" cy="72373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95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4989" y="3260744"/>
            <a:ext cx="16835755" cy="489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800"/>
              </a:lnSpc>
              <a:spcBef>
                <a:spcPts val="100"/>
              </a:spcBef>
            </a:pP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31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AI-Based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sz="31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CCTV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sz="31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improves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traditional</a:t>
            </a:r>
            <a:r>
              <a:rPr sz="31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surveillance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adding</a:t>
            </a:r>
            <a:r>
              <a:rPr sz="31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intelligence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and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context awareness. Instead of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only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recording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video, the system detects</a:t>
            </a:r>
            <a:r>
              <a:rPr sz="31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people,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analyzes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behavior,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evaluates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threats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time.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Features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like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person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detection,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threat</a:t>
            </a:r>
            <a:r>
              <a:rPr sz="31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scoring,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restricted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zone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monitoring,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loitering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detection,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sz="31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alerts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help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reduce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false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alarms</a:t>
            </a:r>
            <a:r>
              <a:rPr sz="31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improve</a:t>
            </a:r>
            <a:r>
              <a:rPr sz="3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security.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Overall,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this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provides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smarter,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faster,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more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reliable</a:t>
            </a:r>
            <a:r>
              <a:rPr sz="31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surveillance,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helping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homes,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shops,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offices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respond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quickly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potential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threats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maintain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31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safer environment.</a:t>
            </a:r>
            <a:endParaRPr sz="3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9324" y="3374151"/>
            <a:ext cx="10103485" cy="271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650" spc="-10" dirty="0"/>
              <a:t>THANKS!</a:t>
            </a:r>
            <a:endParaRPr sz="17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967</Words>
  <Application>Microsoft Office PowerPoint</Application>
  <PresentationFormat>Custom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Microsoft Sans Serif</vt:lpstr>
      <vt:lpstr>Tahoma</vt:lpstr>
      <vt:lpstr>Office Theme</vt:lpstr>
      <vt:lpstr>VisionIQ</vt:lpstr>
      <vt:lpstr>VISIONIQ</vt:lpstr>
      <vt:lpstr>Introduction</vt:lpstr>
      <vt:lpstr>PROBLEM STATEMENT</vt:lpstr>
      <vt:lpstr>PowerPoint Presentation</vt:lpstr>
      <vt:lpstr>Person Detection &amp; Property Mode Selection</vt:lpstr>
      <vt:lpstr>PowerPoint Presentation</vt:lpstr>
      <vt:lpstr>Context-Based Threat Scoring Engine &amp; Tiered Alert System</vt:lpstr>
      <vt:lpstr>RESTRICTED ZONE MONITORING</vt:lpstr>
      <vt:lpstr>01</vt:lpstr>
      <vt:lpstr>PowerPoint Presentation</vt:lpstr>
      <vt:lpstr>PowerPoint Presentation</vt:lpstr>
      <vt:lpstr>SYSTEM ARCHITECTURE</vt:lpstr>
      <vt:lpstr>AI Smart CCTV System – Working Process</vt:lpstr>
      <vt:lpstr>Enhanced security and operational efficiency</vt:lpstr>
      <vt:lpstr>Two Deployment Models</vt:lpstr>
      <vt:lpstr>Hardware Requirements</vt:lpstr>
      <vt:lpstr>Software Stack</vt:lpstr>
      <vt:lpstr>Conclusions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Deployment Models</dc:title>
  <dc:creator>King Rajesh</dc:creator>
  <cp:keywords>DAHD0JRkzA4,BAGbDjBEw8M,0</cp:keywords>
  <cp:lastModifiedBy>Parepalli Divya</cp:lastModifiedBy>
  <cp:revision>3</cp:revision>
  <dcterms:created xsi:type="dcterms:W3CDTF">2026-03-13T09:18:53Z</dcterms:created>
  <dcterms:modified xsi:type="dcterms:W3CDTF">2026-03-14T04:53:09Z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Canva</vt:lpwstr>
  </property>
  <property fmtid="{D5CDD505-2E9C-101B-9397-08002B2CF9AE}" pid="4" name="LastSaved">
    <vt:filetime>2026-03-13T00:00:00Z</vt:filetime>
  </property>
  <property fmtid="{D5CDD505-2E9C-101B-9397-08002B2CF9AE}" pid="5" name="Producer">
    <vt:lpwstr>Canva</vt:lpwstr>
  </property>
</Properties>
</file>